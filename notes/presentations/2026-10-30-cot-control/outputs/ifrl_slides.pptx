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NVIDIA trains the unified Nemotron-Cascade-8B with instruction-following RL after RLHF, using verifiable response constraints while thinking is disabled. We compare the released checkpoints with thinking re-enabled and ask them to follow lexical and formatting constraints inside their CoT. With the thinking wording, completed strict compliance rises from 0/96 to 10/96, mostly through word suppression. This is evidence that training instruction following in non-thinking mode can transfer to control of the thinking channel. The model also produces shorter traces, so the extent to which the gain reflects improved control at a fixed reasoning length remains unresolved.</a:t>
            </a:r>
          </a:p>
          <a:p/>
          <a:p>
            <a:r>
              <a:t>Thinking wording only: completed-CoT strict compliance on 96 rule items per checkpoint, with one generation per item and no demonstrations. Empty thoughts, unclosed blocks, missing final responses and token-limit stops count as failures. Nemotron uses a 0–15% axis; Qwen uses 0–50%.</a:t>
            </a:r>
          </a:p>
          <a:p/>
          <a:p>
            <a:r>
              <a:t>Sources:</a:t>
            </a:r>
          </a:p>
          <a:p>
            <a:r>
              <a:t>https://arxiv.org/html/2512.13607v1#S4.SS4.SSS2</a:t>
            </a:r>
          </a:p>
          <a:p>
            <a:r>
              <a:t>https://github.com/johntrob14/tricky_little_guys/tree/ad0351767b5f1a6f7799bcd120a89ee5caa84bbd/cot-control/results/public-ifrl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independent release fine-tunes the hybrid Qwen3-1.7B model with GRPO, rewarding the fraction of IFEval-style output constraints satisfied while thinking is disabled. We re-enable thinking and evaluate control of the CoT, including a prompting condition with four compliant demonstrations. Completed strict compliance under four-shot prompting rises from 90/288 to 126/288 at KL 0.002 and 123/288 at KL 0.005, while zero-shot remains near zero. This suggests that output instruction-following training can improve elicitable CoT control, although the prompting conditions also differ in wording. The trained models produce shorter CoTs and lower answer accuracy, and sparse positive length-matched comparisons leave the size of any length-independent gain uncertain.</a:t>
            </a:r>
          </a:p>
          <a:p/>
          <a:p>
            <a:r>
              <a:t>Completed-CoT strict compliance on 96 rule items × 3 decoding seeds = 288 samples per bar. All failed generations remain in the denominator. Final checkpoints are step 364; two lower-KL arms are shown, with all evaluated checkpoints in backup. Error bars are omitted; these are observed sample rates from single training runs.</a:t>
            </a:r>
          </a:p>
          <a:p/>
          <a:p>
            <a:r>
              <a:t>Sources:</a:t>
            </a:r>
          </a:p>
          <a:p>
            <a:r>
              <a:t>https://huggingface.co/just1nseo/qwen3-1.7b-if-rlvr-klabl-kl0p01</a:t>
            </a:r>
          </a:p>
          <a:p>
            <a:r>
              <a:t>https://github.com/johntrob14/tricky_little_guys/tree/ad0351767b5f1a6f7799bcd120a89ee5caa84bbd/cot-control/results/public-ifrl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 NVIDIA’s released RLHF and IFRL checkpoints using identical rendered prompts and the shared official template. Each checkpoint receives 96 rule items under each of two wordings, with one sample per item, temperature 0.6 and a 25,000-token cap. Success requires the lexical rule to pass inside nonempty native reasoning, a closed thought block, a final response and no token-limit stop, with every failed generation retained in the denominator. Nine IFRL successes per wording involve word suppression, and the additional thinking-wording success contains a correct forward-price calculation with meow inserted between words. The metric excludes the separate ban on discussing the constraint, semantic reasoning quality and the twelve ignore-question items.</a:t>
            </a:r>
          </a:p>
          <a:p/>
          <a:p/>
          <a:p/>
          <a:p>
            <a:r>
              <a:t>Sources:</a:t>
            </a:r>
          </a:p>
          <a:p>
            <a:r>
              <a:t>https://arxiv.org/html/2512.13607v1#S4.SS4.SSS2</a:t>
            </a:r>
          </a:p>
          <a:p>
            <a:r>
              <a:t>https://github.com/johntrob14/tricky_little_guys/tree/ad0351767b5f1a6f7799bcd120a89ee5caa84bbd/cot-control/results/public-ifrl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IFRL produces substantially shorter outputs and more malformed thought blocks in this constrained evaluation. Completion gating removes five apparent strict successes under thinking wording and four under reasoning-stage wording, leaving ten and nine. Same-item completed traces within 10% of reasoning-token length retain only three and nine pairs, whose strict successes change from zero to zero and zero to one. Searching empty-final outputs for explicit answer lines recovers twelve and six correct answers, while those generations still fail the completion gate. With one released lineage and no matched control training or unconstrained capability baseline, these data leave both the length contribution and general capability effects unresolved.</a:t>
            </a:r>
          </a:p>
          <a:p/>
          <a:p/>
          <a:p/>
          <a:p>
            <a:r>
              <a:t>Sources:</a:t>
            </a:r>
          </a:p>
          <a:p>
            <a:r>
              <a:t>https://arxiv.org/html/2512.13607v1#S4.SS4.SSS2</a:t>
            </a:r>
          </a:p>
          <a:p>
            <a:r>
              <a:t>https://github.com/johntrob14/tricky_little_guys/tree/ad0351767b5f1a6f7799bcd120a89ee5caa84bbd/cot-control/results/public-ifrl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external model card specifies thinking-disabled GRPO with an IFEval-constraint reward, starting from the post-trained hybrid Qwen3-1.7B model. We evaluate eight checkpoints with identical prompts within each condition, using 96 rule items and three decoding seeds at temperature 1 with an 8,000-token cap. This table shows all four-shot checkpoints: strict success requires a completed native thought and final response, partial scores use the raw lexical metric, and accuracy and median length use all 324 generations including the twelve semantic items per seed. The KL 0.01 arm improves early and returns close to its starting strict score, while the two lower-KL finals retain larger gains. There is one training run per KL arm, and exact overlap with external training data remains unaudited.</a:t>
            </a:r>
          </a:p>
          <a:p/>
          <a:p/>
          <a:p/>
          <a:p>
            <a:r>
              <a:t>Sources:</a:t>
            </a:r>
          </a:p>
          <a:p>
            <a:r>
              <a:t>https://huggingface.co/just1nseo/qwen3-1.7b-if-rlvr-klabl-kl0p01</a:t>
            </a:r>
          </a:p>
          <a:p>
            <a:r>
              <a:t>https://github.com/johntrob14/tricky_little_guys/tree/ad0351767b5f1a6f7799bcd120a89ee5caa84bbd/cot-control/results/public-ifrl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Four-shot prompts contain compliant prior thinking blocks, and the evaluated turn receives no reasoning-body prefill. Before/after comparisons keep each prompting package fixed, but zero-shot uses reasoning-stage wording while four-shot uses thinking wording, and adding stacked instructions performs worse in the highlighted checkpoints. The length analysis matches completed traces of at least twenty words within the same item and prompt condition, allowing token lengths to differ by at most a factor of 1.10 and choosing pairs without using compliance outcomes. At KL 0.002, strict successes increase from nineteen to twenty-three among forty-eight matched pairs, and the table gives unadjusted exact item-level sign-flip tests for every final arm. Because length and completion are training outcomes and overlap is sparse, these comparisons remain descriptive, with control training and a clean elicitation curve needed to strengthen causal interpretation.</a:t>
            </a:r>
          </a:p>
          <a:p/>
          <a:p/>
          <a:p/>
          <a:p>
            <a:r>
              <a:t>Sources:</a:t>
            </a:r>
          </a:p>
          <a:p>
            <a:r>
              <a:t>https://huggingface.co/just1nseo/qwen3-1.7b-if-rlvr-klabl-kl0p01</a:t>
            </a:r>
          </a:p>
          <a:p>
            <a:r>
              <a:t>https://github.com/johntrob14/tricky_little_guys/tree/ad0351767b5f1a6f7799bcd120a89ee5caa84bbd/cot-control/results/public-ifrl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914400"/>
          </a:xfrm>
          <a:prstGeom prst="rect">
            <a:avLst/>
          </a:prstGeom>
          <a:noFill/>
        </p:spPr>
        <p:txBody>
          <a:bodyPr wrap="square" lIns="0" rIns="0">
            <a:spAutoFit/>
          </a:bodyPr>
          <a:lstStyle/>
          <a:p>
            <a:pPr>
              <a:defRPr sz="3000" b="1">
                <a:solidFill>
                  <a:srgbClr val="202A36"/>
                </a:solidFill>
                <a:latin typeface="Aptos"/>
              </a:defRPr>
            </a:pPr>
            <a:r>
              <a:t>Nemotron: CoT compliance rises after non-thinking IF-RL</a:t>
            </a:r>
          </a:p>
        </p:txBody>
      </p:sp>
      <p:pic>
        <p:nvPicPr>
          <p:cNvPr id="3" name="Picture 2" descr="nemotron_ifrl.png"/>
          <p:cNvPicPr>
            <a:picLocks noChangeAspect="1"/>
          </p:cNvPicPr>
          <p:nvPr/>
        </p:nvPicPr>
        <p:blipFill>
          <a:blip r:embed="rId2"/>
          <a:stretch>
            <a:fillRect/>
          </a:stretch>
        </p:blipFill>
        <p:spPr>
          <a:xfrm>
            <a:off x="502920" y="1371600"/>
            <a:ext cx="3566160" cy="4754880"/>
          </a:xfrm>
          <a:prstGeom prst="rect">
            <a:avLst/>
          </a:prstGeom>
        </p:spPr>
      </p:pic>
      <p:sp>
        <p:nvSpPr>
          <p:cNvPr id="4" name="TextBox 3"/>
          <p:cNvSpPr txBox="1"/>
          <p:nvPr/>
        </p:nvSpPr>
        <p:spPr>
          <a:xfrm>
            <a:off x="4572000" y="1874519"/>
            <a:ext cx="6949440" cy="1371600"/>
          </a:xfrm>
          <a:prstGeom prst="rect">
            <a:avLst/>
          </a:prstGeom>
          <a:noFill/>
        </p:spPr>
        <p:txBody>
          <a:bodyPr wrap="square" lIns="0" rIns="0">
            <a:spAutoFit/>
          </a:bodyPr>
          <a:lstStyle/>
          <a:p>
            <a:pPr>
              <a:defRPr sz="2600" b="0">
                <a:solidFill>
                  <a:srgbClr val="202A36"/>
                </a:solidFill>
                <a:latin typeface="Aptos"/>
              </a:defRPr>
            </a:pPr>
            <a:r>
              <a:t>• NVIDIA applies instruction-following RL after RLHF, rewarding verifiable response constraints with thinking disabled.</a:t>
            </a:r>
          </a:p>
        </p:txBody>
      </p:sp>
      <p:sp>
        <p:nvSpPr>
          <p:cNvPr id="5" name="TextBox 4"/>
          <p:cNvSpPr txBox="1"/>
          <p:nvPr/>
        </p:nvSpPr>
        <p:spPr>
          <a:xfrm>
            <a:off x="4572000" y="3520439"/>
            <a:ext cx="6949440" cy="1371600"/>
          </a:xfrm>
          <a:prstGeom prst="rect">
            <a:avLst/>
          </a:prstGeom>
          <a:noFill/>
        </p:spPr>
        <p:txBody>
          <a:bodyPr wrap="square" lIns="0" rIns="0">
            <a:spAutoFit/>
          </a:bodyPr>
          <a:lstStyle/>
          <a:p>
            <a:pPr>
              <a:defRPr sz="2600" b="0">
                <a:solidFill>
                  <a:srgbClr val="202A36"/>
                </a:solidFill>
                <a:latin typeface="Aptos"/>
              </a:defRPr>
            </a:pPr>
            <a:r>
              <a:t>• This tests whether training on ordinary responses also changes how well the model can control its CoT.</a:t>
            </a:r>
          </a:p>
        </p:txBody>
      </p:sp>
      <p:sp>
        <p:nvSpPr>
          <p:cNvPr id="6" name="TextBox 5"/>
          <p:cNvSpPr txBox="1"/>
          <p:nvPr/>
        </p:nvSpPr>
        <p:spPr>
          <a:xfrm>
            <a:off x="594360" y="6492240"/>
            <a:ext cx="2743200" cy="182880"/>
          </a:xfrm>
          <a:prstGeom prst="rect">
            <a:avLst/>
          </a:prstGeom>
          <a:noFill/>
        </p:spPr>
        <p:txBody>
          <a:bodyPr wrap="square" lIns="0" rIns="0">
            <a:spAutoFit/>
          </a:bodyPr>
          <a:lstStyle/>
          <a:p>
            <a:pPr>
              <a:defRPr sz="1100" b="0">
                <a:solidFill>
                  <a:srgbClr val="6B7480"/>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914400"/>
          </a:xfrm>
          <a:prstGeom prst="rect">
            <a:avLst/>
          </a:prstGeom>
          <a:noFill/>
        </p:spPr>
        <p:txBody>
          <a:bodyPr wrap="square" lIns="0" rIns="0">
            <a:spAutoFit/>
          </a:bodyPr>
          <a:lstStyle/>
          <a:p>
            <a:pPr>
              <a:defRPr sz="3000" b="1">
                <a:solidFill>
                  <a:srgbClr val="202A36"/>
                </a:solidFill>
                <a:latin typeface="Aptos"/>
              </a:defRPr>
            </a:pPr>
            <a:r>
              <a:t>Qwen: IF-RL improves few-shot-elicited CoT control</a:t>
            </a:r>
          </a:p>
        </p:txBody>
      </p:sp>
      <p:pic>
        <p:nvPicPr>
          <p:cNvPr id="3" name="Picture 2" descr="qwen_ifrl.png"/>
          <p:cNvPicPr>
            <a:picLocks noChangeAspect="1"/>
          </p:cNvPicPr>
          <p:nvPr/>
        </p:nvPicPr>
        <p:blipFill>
          <a:blip r:embed="rId2"/>
          <a:stretch>
            <a:fillRect/>
          </a:stretch>
        </p:blipFill>
        <p:spPr>
          <a:xfrm>
            <a:off x="411480" y="1417320"/>
            <a:ext cx="11338560" cy="2834640"/>
          </a:xfrm>
          <a:prstGeom prst="rect">
            <a:avLst/>
          </a:prstGeom>
        </p:spPr>
      </p:pic>
      <p:sp>
        <p:nvSpPr>
          <p:cNvPr id="4" name="TextBox 3"/>
          <p:cNvSpPr txBox="1"/>
          <p:nvPr/>
        </p:nvSpPr>
        <p:spPr>
          <a:xfrm>
            <a:off x="594360" y="4617720"/>
            <a:ext cx="10972800" cy="676656"/>
          </a:xfrm>
          <a:prstGeom prst="rect">
            <a:avLst/>
          </a:prstGeom>
          <a:noFill/>
        </p:spPr>
        <p:txBody>
          <a:bodyPr wrap="square" lIns="0" rIns="0">
            <a:spAutoFit/>
          </a:bodyPr>
          <a:lstStyle/>
          <a:p>
            <a:pPr>
              <a:defRPr sz="2500" b="0">
                <a:solidFill>
                  <a:srgbClr val="202A36"/>
                </a:solidFill>
                <a:latin typeface="Aptos"/>
              </a:defRPr>
            </a:pPr>
            <a:r>
              <a:t>• An independent Qwen fine-tune uses GRPO to reward the fraction of output constraints satisfied, with thinking disabled.</a:t>
            </a:r>
          </a:p>
        </p:txBody>
      </p:sp>
      <p:sp>
        <p:nvSpPr>
          <p:cNvPr id="5" name="TextBox 4"/>
          <p:cNvSpPr txBox="1"/>
          <p:nvPr/>
        </p:nvSpPr>
        <p:spPr>
          <a:xfrm>
            <a:off x="594360" y="5367528"/>
            <a:ext cx="10972800" cy="676656"/>
          </a:xfrm>
          <a:prstGeom prst="rect">
            <a:avLst/>
          </a:prstGeom>
          <a:noFill/>
        </p:spPr>
        <p:txBody>
          <a:bodyPr wrap="square" lIns="0" rIns="0">
            <a:spAutoFit/>
          </a:bodyPr>
          <a:lstStyle/>
          <a:p>
            <a:pPr>
              <a:defRPr sz="2500" b="0">
                <a:solidFill>
                  <a:srgbClr val="202A36"/>
                </a:solidFill>
                <a:latin typeface="Aptos"/>
              </a:defRPr>
            </a:pPr>
            <a:r>
              <a:t>• Few-shot evaluation tests whether this output training improves CoT control that direct instructions fail to elicit.</a:t>
            </a:r>
          </a:p>
        </p:txBody>
      </p:sp>
      <p:sp>
        <p:nvSpPr>
          <p:cNvPr id="6" name="TextBox 5"/>
          <p:cNvSpPr txBox="1"/>
          <p:nvPr/>
        </p:nvSpPr>
        <p:spPr>
          <a:xfrm>
            <a:off x="594360" y="6492240"/>
            <a:ext cx="2743200" cy="182880"/>
          </a:xfrm>
          <a:prstGeom prst="rect">
            <a:avLst/>
          </a:prstGeom>
          <a:noFill/>
        </p:spPr>
        <p:txBody>
          <a:bodyPr wrap="square" lIns="0" rIns="0">
            <a:spAutoFit/>
          </a:bodyPr>
          <a:lstStyle/>
          <a:p>
            <a:pPr>
              <a:defRPr sz="1100" b="0">
                <a:solidFill>
                  <a:srgbClr val="6B7480"/>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914400"/>
          </a:xfrm>
          <a:prstGeom prst="rect">
            <a:avLst/>
          </a:prstGeom>
          <a:noFill/>
        </p:spPr>
        <p:txBody>
          <a:bodyPr wrap="square" lIns="0" rIns="0">
            <a:spAutoFit/>
          </a:bodyPr>
          <a:lstStyle/>
          <a:p>
            <a:pPr>
              <a:defRPr sz="3000" b="1">
                <a:solidFill>
                  <a:srgbClr val="202A36"/>
                </a:solidFill>
                <a:latin typeface="Aptos"/>
              </a:defRPr>
            </a:pPr>
            <a:r>
              <a:t>Nemotron: setup and which rules improve</a:t>
            </a:r>
          </a:p>
        </p:txBody>
      </p:sp>
      <p:sp>
        <p:nvSpPr>
          <p:cNvPr id="3" name="TextBox 2"/>
          <p:cNvSpPr txBox="1"/>
          <p:nvPr/>
        </p:nvSpPr>
        <p:spPr>
          <a:xfrm>
            <a:off x="594360" y="1280160"/>
            <a:ext cx="10972800" cy="676656"/>
          </a:xfrm>
          <a:prstGeom prst="rect">
            <a:avLst/>
          </a:prstGeom>
          <a:noFill/>
        </p:spPr>
        <p:txBody>
          <a:bodyPr wrap="square" lIns="0" rIns="0">
            <a:spAutoFit/>
          </a:bodyPr>
          <a:lstStyle/>
          <a:p>
            <a:pPr>
              <a:defRPr sz="2100" b="0">
                <a:solidFill>
                  <a:srgbClr val="202A36"/>
                </a:solidFill>
                <a:latin typeface="Aptos"/>
              </a:defRPr>
            </a:pPr>
            <a:r>
              <a:t>• NVIDIA’s unified Cascade-8B receives non-thinking IFRL after RLHF; we evaluate both checkpoints with thinking enabled.</a:t>
            </a:r>
          </a:p>
        </p:txBody>
      </p:sp>
      <p:sp>
        <p:nvSpPr>
          <p:cNvPr id="4" name="TextBox 3"/>
          <p:cNvSpPr txBox="1"/>
          <p:nvPr/>
        </p:nvSpPr>
        <p:spPr>
          <a:xfrm>
            <a:off x="594360" y="1938528"/>
            <a:ext cx="10972800" cy="676656"/>
          </a:xfrm>
          <a:prstGeom prst="rect">
            <a:avLst/>
          </a:prstGeom>
          <a:noFill/>
        </p:spPr>
        <p:txBody>
          <a:bodyPr wrap="square" lIns="0" rIns="0">
            <a:spAutoFit/>
          </a:bodyPr>
          <a:lstStyle/>
          <a:p>
            <a:pPr>
              <a:defRPr sz="2100" b="0">
                <a:solidFill>
                  <a:srgbClr val="202A36"/>
                </a:solidFill>
                <a:latin typeface="Aptos"/>
              </a:defRPr>
            </a:pPr>
            <a:r>
              <a:t>• Completed strict gains are concentrated in word suppression, with one additional meow-insertion success.</a:t>
            </a:r>
          </a:p>
        </p:txBody>
      </p:sp>
      <p:graphicFrame>
        <p:nvGraphicFramePr>
          <p:cNvPr id="5" name="Table 4"/>
          <p:cNvGraphicFramePr>
            <a:graphicFrameLocks noGrp="1"/>
          </p:cNvGraphicFramePr>
          <p:nvPr/>
        </p:nvGraphicFramePr>
        <p:xfrm>
          <a:off x="594360" y="2788920"/>
          <a:ext cx="10972800" cy="3337560"/>
        </p:xfrm>
        <a:graphic>
          <a:graphicData uri="http://schemas.openxmlformats.org/drawingml/2006/table">
            <a:tbl>
              <a:tblPr firstRow="1" bandRow="1">
                <a:tableStyleId>{5C22544A-7EE6-4342-B048-85BDC9FD1C3A}</a:tableStyleId>
              </a:tblPr>
              <a:tblGrid>
                <a:gridCol w="2743200"/>
                <a:gridCol w="2743200"/>
                <a:gridCol w="2743200"/>
                <a:gridCol w="2743200"/>
              </a:tblGrid>
              <a:tr h="556260">
                <a:tc>
                  <a:txBody>
                    <a:bodyPr/>
                    <a:lstStyle/>
                    <a:p>
                      <a:pPr>
                        <a:defRPr sz="1700" b="1">
                          <a:solidFill>
                            <a:srgbClr val="202A36"/>
                          </a:solidFill>
                          <a:latin typeface="Aptos"/>
                        </a:defRPr>
                      </a:pPr>
                      <a:r>
                        <a:t>Rule</a:t>
                      </a:r>
                    </a:p>
                  </a:txBody>
                  <a:tcPr marL="91440" marR="91440">
                    <a:solidFill>
                      <a:srgbClr val="E8F1F5"/>
                    </a:solidFill>
                  </a:tcPr>
                </a:tc>
                <a:tc>
                  <a:txBody>
                    <a:bodyPr/>
                    <a:lstStyle/>
                    <a:p>
                      <a:pPr>
                        <a:defRPr sz="1700" b="1">
                          <a:solidFill>
                            <a:srgbClr val="202A36"/>
                          </a:solidFill>
                          <a:latin typeface="Aptos"/>
                        </a:defRPr>
                      </a:pPr>
                      <a:r>
                        <a:t>RLHF, either wording</a:t>
                      </a:r>
                    </a:p>
                  </a:txBody>
                  <a:tcPr marL="91440" marR="91440">
                    <a:solidFill>
                      <a:srgbClr val="E8F1F5"/>
                    </a:solidFill>
                  </a:tcPr>
                </a:tc>
                <a:tc>
                  <a:txBody>
                    <a:bodyPr/>
                    <a:lstStyle/>
                    <a:p>
                      <a:pPr>
                        <a:defRPr sz="1700" b="1">
                          <a:solidFill>
                            <a:srgbClr val="202A36"/>
                          </a:solidFill>
                          <a:latin typeface="Aptos"/>
                        </a:defRPr>
                      </a:pPr>
                      <a:r>
                        <a:t>IFRL: thinking</a:t>
                      </a:r>
                    </a:p>
                  </a:txBody>
                  <a:tcPr marL="91440" marR="91440">
                    <a:solidFill>
                      <a:srgbClr val="E8F1F5"/>
                    </a:solidFill>
                  </a:tcPr>
                </a:tc>
                <a:tc>
                  <a:txBody>
                    <a:bodyPr/>
                    <a:lstStyle/>
                    <a:p>
                      <a:pPr>
                        <a:defRPr sz="1700" b="1">
                          <a:solidFill>
                            <a:srgbClr val="202A36"/>
                          </a:solidFill>
                          <a:latin typeface="Aptos"/>
                        </a:defRPr>
                      </a:pPr>
                      <a:r>
                        <a:t>IFRL: reasoning stage</a:t>
                      </a:r>
                    </a:p>
                  </a:txBody>
                  <a:tcPr marL="91440" marR="91440">
                    <a:solidFill>
                      <a:srgbClr val="E8F1F5"/>
                    </a:solidFill>
                  </a:tcPr>
                </a:tc>
              </a:tr>
              <a:tr h="556260">
                <a:tc>
                  <a:txBody>
                    <a:bodyPr/>
                    <a:lstStyle/>
                    <a:p>
                      <a:pPr>
                        <a:defRPr sz="1700" b="0">
                          <a:solidFill>
                            <a:srgbClr val="202A36"/>
                          </a:solidFill>
                          <a:latin typeface="Aptos"/>
                        </a:defRPr>
                      </a:pPr>
                      <a:r>
                        <a:t>Single-word suppression</a:t>
                      </a:r>
                    </a:p>
                  </a:txBody>
                  <a:tcPr marL="91440" marR="91440">
                    <a:solidFill>
                      <a:srgbClr val="F4F6F8"/>
                    </a:solidFill>
                  </a:tcPr>
                </a:tc>
                <a:tc>
                  <a:txBody>
                    <a:bodyPr/>
                    <a:lstStyle/>
                    <a:p>
                      <a:pPr>
                        <a:defRPr sz="1700" b="0">
                          <a:solidFill>
                            <a:srgbClr val="202A36"/>
                          </a:solidFill>
                          <a:latin typeface="Aptos"/>
                        </a:defRPr>
                      </a:pPr>
                      <a:r>
                        <a:t>0/12</a:t>
                      </a:r>
                    </a:p>
                  </a:txBody>
                  <a:tcPr marL="91440" marR="91440">
                    <a:solidFill>
                      <a:srgbClr val="F4F6F8"/>
                    </a:solidFill>
                  </a:tcPr>
                </a:tc>
                <a:tc>
                  <a:txBody>
                    <a:bodyPr/>
                    <a:lstStyle/>
                    <a:p>
                      <a:pPr>
                        <a:defRPr sz="1700" b="0">
                          <a:solidFill>
                            <a:srgbClr val="202A36"/>
                          </a:solidFill>
                          <a:latin typeface="Aptos"/>
                        </a:defRPr>
                      </a:pPr>
                      <a:r>
                        <a:t>3/12</a:t>
                      </a:r>
                    </a:p>
                  </a:txBody>
                  <a:tcPr marL="91440" marR="91440">
                    <a:solidFill>
                      <a:srgbClr val="F4F6F8"/>
                    </a:solidFill>
                  </a:tcPr>
                </a:tc>
                <a:tc>
                  <a:txBody>
                    <a:bodyPr/>
                    <a:lstStyle/>
                    <a:p>
                      <a:pPr>
                        <a:defRPr sz="1700" b="0">
                          <a:solidFill>
                            <a:srgbClr val="202A36"/>
                          </a:solidFill>
                          <a:latin typeface="Aptos"/>
                        </a:defRPr>
                      </a:pPr>
                      <a:r>
                        <a:t>3/12</a:t>
                      </a:r>
                    </a:p>
                  </a:txBody>
                  <a:tcPr marL="91440" marR="91440">
                    <a:solidFill>
                      <a:srgbClr val="F4F6F8"/>
                    </a:solidFill>
                  </a:tcPr>
                </a:tc>
              </a:tr>
              <a:tr h="556260">
                <a:tc>
                  <a:txBody>
                    <a:bodyPr/>
                    <a:lstStyle/>
                    <a:p>
                      <a:pPr>
                        <a:defRPr sz="1700" b="0">
                          <a:solidFill>
                            <a:srgbClr val="202A36"/>
                          </a:solidFill>
                          <a:latin typeface="Aptos"/>
                        </a:defRPr>
                      </a:pPr>
                      <a:r>
                        <a:t>Multiple-word suppression</a:t>
                      </a:r>
                    </a:p>
                  </a:txBody>
                  <a:tcPr marL="91440" marR="91440">
                    <a:solidFill>
                      <a:srgbClr val="FFFFFF"/>
                    </a:solidFill>
                  </a:tcPr>
                </a:tc>
                <a:tc>
                  <a:txBody>
                    <a:bodyPr/>
                    <a:lstStyle/>
                    <a:p>
                      <a:pPr>
                        <a:defRPr sz="1700" b="0">
                          <a:solidFill>
                            <a:srgbClr val="202A36"/>
                          </a:solidFill>
                          <a:latin typeface="Aptos"/>
                        </a:defRPr>
                      </a:pPr>
                      <a:r>
                        <a:t>0/12</a:t>
                      </a:r>
                    </a:p>
                  </a:txBody>
                  <a:tcPr marL="91440" marR="91440">
                    <a:solidFill>
                      <a:srgbClr val="FFFFFF"/>
                    </a:solidFill>
                  </a:tcPr>
                </a:tc>
                <a:tc>
                  <a:txBody>
                    <a:bodyPr/>
                    <a:lstStyle/>
                    <a:p>
                      <a:pPr>
                        <a:defRPr sz="1700" b="0">
                          <a:solidFill>
                            <a:srgbClr val="202A36"/>
                          </a:solidFill>
                          <a:latin typeface="Aptos"/>
                        </a:defRPr>
                      </a:pPr>
                      <a:r>
                        <a:t>6/12</a:t>
                      </a:r>
                    </a:p>
                  </a:txBody>
                  <a:tcPr marL="91440" marR="91440">
                    <a:solidFill>
                      <a:srgbClr val="FFFFFF"/>
                    </a:solidFill>
                  </a:tcPr>
                </a:tc>
                <a:tc>
                  <a:txBody>
                    <a:bodyPr/>
                    <a:lstStyle/>
                    <a:p>
                      <a:pPr>
                        <a:defRPr sz="1700" b="0">
                          <a:solidFill>
                            <a:srgbClr val="202A36"/>
                          </a:solidFill>
                          <a:latin typeface="Aptos"/>
                        </a:defRPr>
                      </a:pPr>
                      <a:r>
                        <a:t>6/12</a:t>
                      </a:r>
                    </a:p>
                  </a:txBody>
                  <a:tcPr marL="91440" marR="91440">
                    <a:solidFill>
                      <a:srgbClr val="FFFFFF"/>
                    </a:solidFill>
                  </a:tcPr>
                </a:tc>
              </a:tr>
              <a:tr h="556260">
                <a:tc>
                  <a:txBody>
                    <a:bodyPr/>
                    <a:lstStyle/>
                    <a:p>
                      <a:pPr>
                        <a:defRPr sz="1700" b="0">
                          <a:solidFill>
                            <a:srgbClr val="202A36"/>
                          </a:solidFill>
                          <a:latin typeface="Aptos"/>
                        </a:defRPr>
                      </a:pPr>
                      <a:r>
                        <a:t>Meow insertion</a:t>
                      </a:r>
                    </a:p>
                  </a:txBody>
                  <a:tcPr marL="91440" marR="91440">
                    <a:solidFill>
                      <a:srgbClr val="F4F6F8"/>
                    </a:solidFill>
                  </a:tcPr>
                </a:tc>
                <a:tc>
                  <a:txBody>
                    <a:bodyPr/>
                    <a:lstStyle/>
                    <a:p>
                      <a:pPr>
                        <a:defRPr sz="1700" b="0">
                          <a:solidFill>
                            <a:srgbClr val="202A36"/>
                          </a:solidFill>
                          <a:latin typeface="Aptos"/>
                        </a:defRPr>
                      </a:pPr>
                      <a:r>
                        <a:t>0/12</a:t>
                      </a:r>
                    </a:p>
                  </a:txBody>
                  <a:tcPr marL="91440" marR="91440">
                    <a:solidFill>
                      <a:srgbClr val="F4F6F8"/>
                    </a:solidFill>
                  </a:tcPr>
                </a:tc>
                <a:tc>
                  <a:txBody>
                    <a:bodyPr/>
                    <a:lstStyle/>
                    <a:p>
                      <a:pPr>
                        <a:defRPr sz="1700" b="0">
                          <a:solidFill>
                            <a:srgbClr val="202A36"/>
                          </a:solidFill>
                          <a:latin typeface="Aptos"/>
                        </a:defRPr>
                      </a:pPr>
                      <a:r>
                        <a:t>1/12</a:t>
                      </a:r>
                    </a:p>
                  </a:txBody>
                  <a:tcPr marL="91440" marR="91440">
                    <a:solidFill>
                      <a:srgbClr val="F4F6F8"/>
                    </a:solidFill>
                  </a:tcPr>
                </a:tc>
                <a:tc>
                  <a:txBody>
                    <a:bodyPr/>
                    <a:lstStyle/>
                    <a:p>
                      <a:pPr>
                        <a:defRPr sz="1700" b="0">
                          <a:solidFill>
                            <a:srgbClr val="202A36"/>
                          </a:solidFill>
                          <a:latin typeface="Aptos"/>
                        </a:defRPr>
                      </a:pPr>
                      <a:r>
                        <a:t>0/12</a:t>
                      </a:r>
                    </a:p>
                  </a:txBody>
                  <a:tcPr marL="91440" marR="91440">
                    <a:solidFill>
                      <a:srgbClr val="F4F6F8"/>
                    </a:solidFill>
                  </a:tcPr>
                </a:tc>
              </a:tr>
              <a:tr h="556260">
                <a:tc>
                  <a:txBody>
                    <a:bodyPr/>
                    <a:lstStyle/>
                    <a:p>
                      <a:pPr>
                        <a:defRPr sz="1700" b="0">
                          <a:solidFill>
                            <a:srgbClr val="202A36"/>
                          </a:solidFill>
                          <a:latin typeface="Aptos"/>
                        </a:defRPr>
                      </a:pPr>
                      <a:r>
                        <a:t>Other five rule types</a:t>
                      </a:r>
                    </a:p>
                  </a:txBody>
                  <a:tcPr marL="91440" marR="91440">
                    <a:solidFill>
                      <a:srgbClr val="FFFFFF"/>
                    </a:solidFill>
                  </a:tcPr>
                </a:tc>
                <a:tc>
                  <a:txBody>
                    <a:bodyPr/>
                    <a:lstStyle/>
                    <a:p>
                      <a:pPr>
                        <a:defRPr sz="1700" b="0">
                          <a:solidFill>
                            <a:srgbClr val="202A36"/>
                          </a:solidFill>
                          <a:latin typeface="Aptos"/>
                        </a:defRPr>
                      </a:pPr>
                      <a:r>
                        <a:t>0/60</a:t>
                      </a:r>
                    </a:p>
                  </a:txBody>
                  <a:tcPr marL="91440" marR="91440">
                    <a:solidFill>
                      <a:srgbClr val="FFFFFF"/>
                    </a:solidFill>
                  </a:tcPr>
                </a:tc>
                <a:tc>
                  <a:txBody>
                    <a:bodyPr/>
                    <a:lstStyle/>
                    <a:p>
                      <a:pPr>
                        <a:defRPr sz="1700" b="0">
                          <a:solidFill>
                            <a:srgbClr val="202A36"/>
                          </a:solidFill>
                          <a:latin typeface="Aptos"/>
                        </a:defRPr>
                      </a:pPr>
                      <a:r>
                        <a:t>0/60</a:t>
                      </a:r>
                    </a:p>
                  </a:txBody>
                  <a:tcPr marL="91440" marR="91440">
                    <a:solidFill>
                      <a:srgbClr val="FFFFFF"/>
                    </a:solidFill>
                  </a:tcPr>
                </a:tc>
                <a:tc>
                  <a:txBody>
                    <a:bodyPr/>
                    <a:lstStyle/>
                    <a:p>
                      <a:pPr>
                        <a:defRPr sz="1700" b="0">
                          <a:solidFill>
                            <a:srgbClr val="202A36"/>
                          </a:solidFill>
                          <a:latin typeface="Aptos"/>
                        </a:defRPr>
                      </a:pPr>
                      <a:r>
                        <a:t>0/60</a:t>
                      </a:r>
                    </a:p>
                  </a:txBody>
                  <a:tcPr marL="91440" marR="91440">
                    <a:solidFill>
                      <a:srgbClr val="FFFFFF"/>
                    </a:solidFill>
                  </a:tcPr>
                </a:tc>
              </a:tr>
              <a:tr h="556260">
                <a:tc>
                  <a:txBody>
                    <a:bodyPr/>
                    <a:lstStyle/>
                    <a:p>
                      <a:pPr>
                        <a:defRPr sz="1700" b="0">
                          <a:solidFill>
                            <a:srgbClr val="202A36"/>
                          </a:solidFill>
                          <a:latin typeface="Aptos"/>
                        </a:defRPr>
                      </a:pPr>
                      <a:r>
                        <a:t>Total</a:t>
                      </a:r>
                    </a:p>
                  </a:txBody>
                  <a:tcPr marL="91440" marR="91440">
                    <a:solidFill>
                      <a:srgbClr val="F4F6F8"/>
                    </a:solidFill>
                  </a:tcPr>
                </a:tc>
                <a:tc>
                  <a:txBody>
                    <a:bodyPr/>
                    <a:lstStyle/>
                    <a:p>
                      <a:pPr>
                        <a:defRPr sz="1700" b="0">
                          <a:solidFill>
                            <a:srgbClr val="202A36"/>
                          </a:solidFill>
                          <a:latin typeface="Aptos"/>
                        </a:defRPr>
                      </a:pPr>
                      <a:r>
                        <a:t>0/96</a:t>
                      </a:r>
                    </a:p>
                  </a:txBody>
                  <a:tcPr marL="91440" marR="91440">
                    <a:solidFill>
                      <a:srgbClr val="F4F6F8"/>
                    </a:solidFill>
                  </a:tcPr>
                </a:tc>
                <a:tc>
                  <a:txBody>
                    <a:bodyPr/>
                    <a:lstStyle/>
                    <a:p>
                      <a:pPr>
                        <a:defRPr sz="1700" b="0">
                          <a:solidFill>
                            <a:srgbClr val="202A36"/>
                          </a:solidFill>
                          <a:latin typeface="Aptos"/>
                        </a:defRPr>
                      </a:pPr>
                      <a:r>
                        <a:t>10/96</a:t>
                      </a:r>
                    </a:p>
                  </a:txBody>
                  <a:tcPr marL="91440" marR="91440">
                    <a:solidFill>
                      <a:srgbClr val="F4F6F8"/>
                    </a:solidFill>
                  </a:tcPr>
                </a:tc>
                <a:tc>
                  <a:txBody>
                    <a:bodyPr/>
                    <a:lstStyle/>
                    <a:p>
                      <a:pPr>
                        <a:defRPr sz="1700" b="0">
                          <a:solidFill>
                            <a:srgbClr val="202A36"/>
                          </a:solidFill>
                          <a:latin typeface="Aptos"/>
                        </a:defRPr>
                      </a:pPr>
                      <a:r>
                        <a:t>9/96</a:t>
                      </a:r>
                    </a:p>
                  </a:txBody>
                  <a:tcPr marL="91440" marR="91440">
                    <a:solidFill>
                      <a:srgbClr val="F4F6F8"/>
                    </a:solidFill>
                  </a:tcPr>
                </a:tc>
              </a:tr>
            </a:tbl>
          </a:graphicData>
        </a:graphic>
      </p:graphicFrame>
      <p:sp>
        <p:nvSpPr>
          <p:cNvPr id="6" name="TextBox 5"/>
          <p:cNvSpPr txBox="1"/>
          <p:nvPr/>
        </p:nvSpPr>
        <p:spPr>
          <a:xfrm>
            <a:off x="594360" y="6492240"/>
            <a:ext cx="2743200" cy="182880"/>
          </a:xfrm>
          <a:prstGeom prst="rect">
            <a:avLst/>
          </a:prstGeom>
          <a:noFill/>
        </p:spPr>
        <p:txBody>
          <a:bodyPr wrap="square" lIns="0" rIns="0">
            <a:spAutoFit/>
          </a:bodyPr>
          <a:lstStyle/>
          <a:p>
            <a:pPr>
              <a:defRPr sz="1100" b="0">
                <a:solidFill>
                  <a:srgbClr val="6B7480"/>
                </a:solidFill>
                <a:latin typeface="Aptos"/>
              </a:defRPr>
            </a:pPr>
            <a:r>
              <a:t>03  /  BACKUP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914400"/>
          </a:xfrm>
          <a:prstGeom prst="rect">
            <a:avLst/>
          </a:prstGeom>
          <a:noFill/>
        </p:spPr>
        <p:txBody>
          <a:bodyPr wrap="square" lIns="0" rIns="0">
            <a:spAutoFit/>
          </a:bodyPr>
          <a:lstStyle/>
          <a:p>
            <a:pPr>
              <a:defRPr sz="3000" b="1">
                <a:solidFill>
                  <a:srgbClr val="202A36"/>
                </a:solidFill>
                <a:latin typeface="Aptos"/>
              </a:defRPr>
            </a:pPr>
            <a:r>
              <a:t>Nemotron: shortening and answer-format failures</a:t>
            </a:r>
          </a:p>
        </p:txBody>
      </p:sp>
      <p:sp>
        <p:nvSpPr>
          <p:cNvPr id="3" name="TextBox 2"/>
          <p:cNvSpPr txBox="1"/>
          <p:nvPr/>
        </p:nvSpPr>
        <p:spPr>
          <a:xfrm>
            <a:off x="594360" y="1280160"/>
            <a:ext cx="10972800" cy="676656"/>
          </a:xfrm>
          <a:prstGeom prst="rect">
            <a:avLst/>
          </a:prstGeom>
          <a:noFill/>
        </p:spPr>
        <p:txBody>
          <a:bodyPr wrap="square" lIns="0" rIns="0">
            <a:spAutoFit/>
          </a:bodyPr>
          <a:lstStyle/>
          <a:p>
            <a:pPr>
              <a:defRPr sz="2100" b="0">
                <a:solidFill>
                  <a:srgbClr val="202A36"/>
                </a:solidFill>
                <a:latin typeface="Aptos"/>
              </a:defRPr>
            </a:pPr>
            <a:r>
              <a:t>• Only 3 and 9 same-item pairs match within 10% of reasoning-token length, leaving shortening unresolved.</a:t>
            </a:r>
          </a:p>
        </p:txBody>
      </p:sp>
      <p:sp>
        <p:nvSpPr>
          <p:cNvPr id="4" name="TextBox 3"/>
          <p:cNvSpPr txBox="1"/>
          <p:nvPr/>
        </p:nvSpPr>
        <p:spPr>
          <a:xfrm>
            <a:off x="594360" y="1938528"/>
            <a:ext cx="10972800" cy="676656"/>
          </a:xfrm>
          <a:prstGeom prst="rect">
            <a:avLst/>
          </a:prstGeom>
          <a:noFill/>
        </p:spPr>
        <p:txBody>
          <a:bodyPr wrap="square" lIns="0" rIns="0">
            <a:spAutoFit/>
          </a:bodyPr>
          <a:lstStyle/>
          <a:p>
            <a:pPr>
              <a:defRPr sz="2100" b="0">
                <a:solidFill>
                  <a:srgbClr val="202A36"/>
                </a:solidFill>
                <a:latin typeface="Aptos"/>
              </a:defRPr>
            </a:pPr>
            <a:r>
              <a:t>• Recovering explicit answers from unclosed thoughts explains much of the measured accuracy drop.</a:t>
            </a:r>
          </a:p>
        </p:txBody>
      </p:sp>
      <p:graphicFrame>
        <p:nvGraphicFramePr>
          <p:cNvPr id="5" name="Table 4"/>
          <p:cNvGraphicFramePr>
            <a:graphicFrameLocks noGrp="1"/>
          </p:cNvGraphicFramePr>
          <p:nvPr/>
        </p:nvGraphicFramePr>
        <p:xfrm>
          <a:off x="594360" y="2788920"/>
          <a:ext cx="10972800" cy="3337560"/>
        </p:xfrm>
        <a:graphic>
          <a:graphicData uri="http://schemas.openxmlformats.org/drawingml/2006/table">
            <a:tbl>
              <a:tblPr firstRow="1" bandRow="1">
                <a:tableStyleId>{5C22544A-7EE6-4342-B048-85BDC9FD1C3A}</a:tableStyleId>
              </a:tblPr>
              <a:tblGrid>
                <a:gridCol w="2743200"/>
                <a:gridCol w="2743200"/>
                <a:gridCol w="2743200"/>
                <a:gridCol w="2743200"/>
              </a:tblGrid>
              <a:tr h="1112520">
                <a:tc>
                  <a:txBody>
                    <a:bodyPr/>
                    <a:lstStyle/>
                    <a:p>
                      <a:pPr>
                        <a:defRPr sz="1700" b="1">
                          <a:solidFill>
                            <a:srgbClr val="202A36"/>
                          </a:solidFill>
                          <a:latin typeface="Aptos"/>
                        </a:defRPr>
                      </a:pPr>
                      <a:r>
                        <a:t>Wording</a:t>
                      </a:r>
                    </a:p>
                  </a:txBody>
                  <a:tcPr marL="91440" marR="91440">
                    <a:solidFill>
                      <a:srgbClr val="E8F1F5"/>
                    </a:solidFill>
                  </a:tcPr>
                </a:tc>
                <a:tc>
                  <a:txBody>
                    <a:bodyPr/>
                    <a:lstStyle/>
                    <a:p>
                      <a:pPr>
                        <a:defRPr sz="1700" b="1">
                          <a:solidFill>
                            <a:srgbClr val="202A36"/>
                          </a:solidFill>
                          <a:latin typeface="Aptos"/>
                        </a:defRPr>
                      </a:pPr>
                      <a:r>
                        <a:t>Median output tokens</a:t>
                      </a:r>
                    </a:p>
                    <a:p>
                      <a:pPr>
                        <a:defRPr sz="1700" b="1">
                          <a:solidFill>
                            <a:srgbClr val="202A36"/>
                          </a:solidFill>
                          <a:latin typeface="Aptos"/>
                        </a:defRPr>
                      </a:pPr>
                      <a:r>
                        <a:t>before → after</a:t>
                      </a:r>
                    </a:p>
                  </a:txBody>
                  <a:tcPr marL="91440" marR="91440">
                    <a:solidFill>
                      <a:srgbClr val="E8F1F5"/>
                    </a:solidFill>
                  </a:tcPr>
                </a:tc>
                <a:tc>
                  <a:txBody>
                    <a:bodyPr/>
                    <a:lstStyle/>
                    <a:p>
                      <a:pPr>
                        <a:defRPr sz="1700" b="1">
                          <a:solidFill>
                            <a:srgbClr val="202A36"/>
                          </a:solidFill>
                          <a:latin typeface="Aptos"/>
                        </a:defRPr>
                      </a:pPr>
                      <a:r>
                        <a:t>Final-answer accuracy</a:t>
                      </a:r>
                    </a:p>
                    <a:p>
                      <a:pPr>
                        <a:defRPr sz="1700" b="1">
                          <a:solidFill>
                            <a:srgbClr val="202A36"/>
                          </a:solidFill>
                          <a:latin typeface="Aptos"/>
                        </a:defRPr>
                      </a:pPr>
                      <a:r>
                        <a:t>before → after</a:t>
                      </a:r>
                    </a:p>
                  </a:txBody>
                  <a:tcPr marL="91440" marR="91440">
                    <a:solidFill>
                      <a:srgbClr val="E8F1F5"/>
                    </a:solidFill>
                  </a:tcPr>
                </a:tc>
                <a:tc>
                  <a:txBody>
                    <a:bodyPr/>
                    <a:lstStyle/>
                    <a:p>
                      <a:pPr>
                        <a:defRPr sz="1700" b="1">
                          <a:solidFill>
                            <a:srgbClr val="202A36"/>
                          </a:solidFill>
                          <a:latin typeface="Aptos"/>
                        </a:defRPr>
                      </a:pPr>
                      <a:r>
                        <a:t>IFRL accuracy with</a:t>
                      </a:r>
                    </a:p>
                    <a:p>
                      <a:pPr>
                        <a:defRPr sz="1700" b="1">
                          <a:solidFill>
                            <a:srgbClr val="202A36"/>
                          </a:solidFill>
                          <a:latin typeface="Aptos"/>
                        </a:defRPr>
                      </a:pPr>
                      <a:r>
                        <a:t>answer recovery</a:t>
                      </a:r>
                    </a:p>
                  </a:txBody>
                  <a:tcPr marL="91440" marR="91440">
                    <a:solidFill>
                      <a:srgbClr val="E8F1F5"/>
                    </a:solidFill>
                  </a:tcPr>
                </a:tc>
              </a:tr>
              <a:tr h="1112520">
                <a:tc>
                  <a:txBody>
                    <a:bodyPr/>
                    <a:lstStyle/>
                    <a:p>
                      <a:pPr>
                        <a:defRPr sz="1700" b="0">
                          <a:solidFill>
                            <a:srgbClr val="202A36"/>
                          </a:solidFill>
                          <a:latin typeface="Aptos"/>
                        </a:defRPr>
                      </a:pPr>
                      <a:r>
                        <a:t>Thinking</a:t>
                      </a:r>
                    </a:p>
                  </a:txBody>
                  <a:tcPr marL="91440" marR="91440">
                    <a:solidFill>
                      <a:srgbClr val="F4F6F8"/>
                    </a:solidFill>
                  </a:tcPr>
                </a:tc>
                <a:tc>
                  <a:txBody>
                    <a:bodyPr/>
                    <a:lstStyle/>
                    <a:p>
                      <a:pPr>
                        <a:defRPr sz="1700" b="0">
                          <a:solidFill>
                            <a:srgbClr val="202A36"/>
                          </a:solidFill>
                          <a:latin typeface="Aptos"/>
                        </a:defRPr>
                      </a:pPr>
                      <a:r>
                        <a:t>2,845 → 707.5</a:t>
                      </a:r>
                    </a:p>
                  </a:txBody>
                  <a:tcPr marL="91440" marR="91440">
                    <a:solidFill>
                      <a:srgbClr val="F4F6F8"/>
                    </a:solidFill>
                  </a:tcPr>
                </a:tc>
                <a:tc>
                  <a:txBody>
                    <a:bodyPr/>
                    <a:lstStyle/>
                    <a:p>
                      <a:pPr>
                        <a:defRPr sz="1700" b="0">
                          <a:solidFill>
                            <a:srgbClr val="202A36"/>
                          </a:solidFill>
                          <a:latin typeface="Aptos"/>
                        </a:defRPr>
                      </a:pPr>
                      <a:r>
                        <a:t>58/108 → 39/108</a:t>
                      </a:r>
                    </a:p>
                  </a:txBody>
                  <a:tcPr marL="91440" marR="91440">
                    <a:solidFill>
                      <a:srgbClr val="F4F6F8"/>
                    </a:solidFill>
                  </a:tcPr>
                </a:tc>
                <a:tc>
                  <a:txBody>
                    <a:bodyPr/>
                    <a:lstStyle/>
                    <a:p>
                      <a:pPr>
                        <a:defRPr sz="1700" b="0">
                          <a:solidFill>
                            <a:srgbClr val="202A36"/>
                          </a:solidFill>
                          <a:latin typeface="Aptos"/>
                        </a:defRPr>
                      </a:pPr>
                      <a:r>
                        <a:t>51/108</a:t>
                      </a:r>
                    </a:p>
                  </a:txBody>
                  <a:tcPr marL="91440" marR="91440">
                    <a:solidFill>
                      <a:srgbClr val="F4F6F8"/>
                    </a:solidFill>
                  </a:tcPr>
                </a:tc>
              </a:tr>
              <a:tr h="1112520">
                <a:tc>
                  <a:txBody>
                    <a:bodyPr/>
                    <a:lstStyle/>
                    <a:p>
                      <a:pPr>
                        <a:defRPr sz="1700" b="0">
                          <a:solidFill>
                            <a:srgbClr val="202A36"/>
                          </a:solidFill>
                          <a:latin typeface="Aptos"/>
                        </a:defRPr>
                      </a:pPr>
                      <a:r>
                        <a:t>Reasoning stage</a:t>
                      </a:r>
                    </a:p>
                  </a:txBody>
                  <a:tcPr marL="91440" marR="91440">
                    <a:solidFill>
                      <a:srgbClr val="FFFFFF"/>
                    </a:solidFill>
                  </a:tcPr>
                </a:tc>
                <a:tc>
                  <a:txBody>
                    <a:bodyPr/>
                    <a:lstStyle/>
                    <a:p>
                      <a:pPr>
                        <a:defRPr sz="1700" b="0">
                          <a:solidFill>
                            <a:srgbClr val="202A36"/>
                          </a:solidFill>
                          <a:latin typeface="Aptos"/>
                        </a:defRPr>
                      </a:pPr>
                      <a:r>
                        <a:t>2,896 → 730.5</a:t>
                      </a:r>
                    </a:p>
                  </a:txBody>
                  <a:tcPr marL="91440" marR="91440">
                    <a:solidFill>
                      <a:srgbClr val="FFFFFF"/>
                    </a:solidFill>
                  </a:tcPr>
                </a:tc>
                <a:tc>
                  <a:txBody>
                    <a:bodyPr/>
                    <a:lstStyle/>
                    <a:p>
                      <a:pPr>
                        <a:defRPr sz="1700" b="0">
                          <a:solidFill>
                            <a:srgbClr val="202A36"/>
                          </a:solidFill>
                          <a:latin typeface="Aptos"/>
                        </a:defRPr>
                      </a:pPr>
                      <a:r>
                        <a:t>55/108 → 47/108</a:t>
                      </a:r>
                    </a:p>
                  </a:txBody>
                  <a:tcPr marL="91440" marR="91440">
                    <a:solidFill>
                      <a:srgbClr val="FFFFFF"/>
                    </a:solidFill>
                  </a:tcPr>
                </a:tc>
                <a:tc>
                  <a:txBody>
                    <a:bodyPr/>
                    <a:lstStyle/>
                    <a:p>
                      <a:pPr>
                        <a:defRPr sz="1700" b="0">
                          <a:solidFill>
                            <a:srgbClr val="202A36"/>
                          </a:solidFill>
                          <a:latin typeface="Aptos"/>
                        </a:defRPr>
                      </a:pPr>
                      <a:r>
                        <a:t>53/108</a:t>
                      </a:r>
                    </a:p>
                  </a:txBody>
                  <a:tcPr marL="91440" marR="91440">
                    <a:solidFill>
                      <a:srgbClr val="FFFFFF"/>
                    </a:solidFill>
                  </a:tcPr>
                </a:tc>
              </a:tr>
            </a:tbl>
          </a:graphicData>
        </a:graphic>
      </p:graphicFrame>
      <p:sp>
        <p:nvSpPr>
          <p:cNvPr id="6" name="TextBox 5"/>
          <p:cNvSpPr txBox="1"/>
          <p:nvPr/>
        </p:nvSpPr>
        <p:spPr>
          <a:xfrm>
            <a:off x="594360" y="6492240"/>
            <a:ext cx="2743200" cy="182880"/>
          </a:xfrm>
          <a:prstGeom prst="rect">
            <a:avLst/>
          </a:prstGeom>
          <a:noFill/>
        </p:spPr>
        <p:txBody>
          <a:bodyPr wrap="square" lIns="0" rIns="0">
            <a:spAutoFit/>
          </a:bodyPr>
          <a:lstStyle/>
          <a:p>
            <a:pPr>
              <a:defRPr sz="1100" b="0">
                <a:solidFill>
                  <a:srgbClr val="6B7480"/>
                </a:solidFill>
                <a:latin typeface="Aptos"/>
              </a:defRPr>
            </a:pPr>
            <a:r>
              <a:t>04  /  BACKUP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914400"/>
          </a:xfrm>
          <a:prstGeom prst="rect">
            <a:avLst/>
          </a:prstGeom>
          <a:noFill/>
        </p:spPr>
        <p:txBody>
          <a:bodyPr wrap="square" lIns="0" rIns="0">
            <a:spAutoFit/>
          </a:bodyPr>
          <a:lstStyle/>
          <a:p>
            <a:pPr>
              <a:defRPr sz="3000" b="1">
                <a:solidFill>
                  <a:srgbClr val="202A36"/>
                </a:solidFill>
                <a:latin typeface="Aptos"/>
              </a:defRPr>
            </a:pPr>
            <a:r>
              <a:t>Qwen: setup and the full checkpoint sweep</a:t>
            </a:r>
          </a:p>
        </p:txBody>
      </p:sp>
      <p:sp>
        <p:nvSpPr>
          <p:cNvPr id="3" name="TextBox 2"/>
          <p:cNvSpPr txBox="1"/>
          <p:nvPr/>
        </p:nvSpPr>
        <p:spPr>
          <a:xfrm>
            <a:off x="594360" y="1280160"/>
            <a:ext cx="10972800" cy="676656"/>
          </a:xfrm>
          <a:prstGeom prst="rect">
            <a:avLst/>
          </a:prstGeom>
          <a:noFill/>
        </p:spPr>
        <p:txBody>
          <a:bodyPr wrap="square" lIns="0" rIns="0">
            <a:spAutoFit/>
          </a:bodyPr>
          <a:lstStyle/>
          <a:p>
            <a:pPr>
              <a:defRPr sz="2100" b="0">
                <a:solidFill>
                  <a:srgbClr val="202A36"/>
                </a:solidFill>
                <a:latin typeface="Aptos"/>
              </a:defRPr>
            </a:pPr>
            <a:r>
              <a:t>• The external release trains Qwen3-1.7B with non-thinking GRPO; our evaluation re-enables thinking.</a:t>
            </a:r>
          </a:p>
        </p:txBody>
      </p:sp>
      <p:sp>
        <p:nvSpPr>
          <p:cNvPr id="4" name="TextBox 3"/>
          <p:cNvSpPr txBox="1"/>
          <p:nvPr/>
        </p:nvSpPr>
        <p:spPr>
          <a:xfrm>
            <a:off x="594360" y="1938528"/>
            <a:ext cx="10972800" cy="676656"/>
          </a:xfrm>
          <a:prstGeom prst="rect">
            <a:avLst/>
          </a:prstGeom>
          <a:noFill/>
        </p:spPr>
        <p:txBody>
          <a:bodyPr wrap="square" lIns="0" rIns="0">
            <a:spAutoFit/>
          </a:bodyPr>
          <a:lstStyle/>
          <a:p>
            <a:pPr>
              <a:defRPr sz="2100" b="0">
                <a:solidFill>
                  <a:srgbClr val="202A36"/>
                </a:solidFill>
                <a:latin typeface="Aptos"/>
              </a:defRPr>
            </a:pPr>
            <a:r>
              <a:t>• The two lower-KL final checkpoints show the largest four-shot gains, alongside shorter CoTs and lower accuracy.</a:t>
            </a:r>
          </a:p>
        </p:txBody>
      </p:sp>
      <p:graphicFrame>
        <p:nvGraphicFramePr>
          <p:cNvPr id="5" name="Table 4"/>
          <p:cNvGraphicFramePr>
            <a:graphicFrameLocks noGrp="1"/>
          </p:cNvGraphicFramePr>
          <p:nvPr/>
        </p:nvGraphicFramePr>
        <p:xfrm>
          <a:off x="594360" y="2788920"/>
          <a:ext cx="10972800" cy="333756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370840">
                <a:tc>
                  <a:txBody>
                    <a:bodyPr/>
                    <a:lstStyle/>
                    <a:p>
                      <a:pPr>
                        <a:defRPr sz="1500" b="1">
                          <a:solidFill>
                            <a:srgbClr val="202A36"/>
                          </a:solidFill>
                          <a:latin typeface="Aptos"/>
                        </a:defRPr>
                      </a:pPr>
                      <a:r>
                        <a:t>Checkpoint</a:t>
                      </a:r>
                    </a:p>
                  </a:txBody>
                  <a:tcPr marL="91440" marR="91440">
                    <a:solidFill>
                      <a:srgbClr val="E8F1F5"/>
                    </a:solidFill>
                  </a:tcPr>
                </a:tc>
                <a:tc>
                  <a:txBody>
                    <a:bodyPr/>
                    <a:lstStyle/>
                    <a:p>
                      <a:pPr>
                        <a:defRPr sz="1500" b="1">
                          <a:solidFill>
                            <a:srgbClr val="202A36"/>
                          </a:solidFill>
                          <a:latin typeface="Aptos"/>
                        </a:defRPr>
                      </a:pPr>
                      <a:r>
                        <a:t>Completed / 288</a:t>
                      </a:r>
                    </a:p>
                  </a:txBody>
                  <a:tcPr marL="91440" marR="91440">
                    <a:solidFill>
                      <a:srgbClr val="E8F1F5"/>
                    </a:solidFill>
                  </a:tcPr>
                </a:tc>
                <a:tc>
                  <a:txBody>
                    <a:bodyPr/>
                    <a:lstStyle/>
                    <a:p>
                      <a:pPr>
                        <a:defRPr sz="1500" b="1">
                          <a:solidFill>
                            <a:srgbClr val="202A36"/>
                          </a:solidFill>
                          <a:latin typeface="Aptos"/>
                        </a:defRPr>
                      </a:pPr>
                      <a:r>
                        <a:t>Strict %</a:t>
                      </a:r>
                    </a:p>
                  </a:txBody>
                  <a:tcPr marL="91440" marR="91440">
                    <a:solidFill>
                      <a:srgbClr val="E8F1F5"/>
                    </a:solidFill>
                  </a:tcPr>
                </a:tc>
                <a:tc>
                  <a:txBody>
                    <a:bodyPr/>
                    <a:lstStyle/>
                    <a:p>
                      <a:pPr>
                        <a:defRPr sz="1500" b="1">
                          <a:solidFill>
                            <a:srgbClr val="202A36"/>
                          </a:solidFill>
                          <a:latin typeface="Aptos"/>
                        </a:defRPr>
                      </a:pPr>
                      <a:r>
                        <a:t>Partial %</a:t>
                      </a:r>
                    </a:p>
                  </a:txBody>
                  <a:tcPr marL="91440" marR="91440">
                    <a:solidFill>
                      <a:srgbClr val="E8F1F5"/>
                    </a:solidFill>
                  </a:tcPr>
                </a:tc>
                <a:tc>
                  <a:txBody>
                    <a:bodyPr/>
                    <a:lstStyle/>
                    <a:p>
                      <a:pPr>
                        <a:defRPr sz="1500" b="1">
                          <a:solidFill>
                            <a:srgbClr val="202A36"/>
                          </a:solidFill>
                          <a:latin typeface="Aptos"/>
                        </a:defRPr>
                      </a:pPr>
                      <a:r>
                        <a:t>Accuracy %</a:t>
                      </a:r>
                    </a:p>
                  </a:txBody>
                  <a:tcPr marL="91440" marR="91440">
                    <a:solidFill>
                      <a:srgbClr val="E8F1F5"/>
                    </a:solidFill>
                  </a:tcPr>
                </a:tc>
                <a:tc>
                  <a:txBody>
                    <a:bodyPr/>
                    <a:lstStyle/>
                    <a:p>
                      <a:pPr>
                        <a:defRPr sz="1500" b="1">
                          <a:solidFill>
                            <a:srgbClr val="202A36"/>
                          </a:solidFill>
                          <a:latin typeface="Aptos"/>
                        </a:defRPr>
                      </a:pPr>
                      <a:r>
                        <a:t>CoT words</a:t>
                      </a:r>
                    </a:p>
                  </a:txBody>
                  <a:tcPr marL="91440" marR="91440">
                    <a:solidFill>
                      <a:srgbClr val="E8F1F5"/>
                    </a:solidFill>
                  </a:tcPr>
                </a:tc>
              </a:tr>
              <a:tr h="370840">
                <a:tc>
                  <a:txBody>
                    <a:bodyPr/>
                    <a:lstStyle/>
                    <a:p>
                      <a:pPr>
                        <a:defRPr sz="1500" b="0">
                          <a:solidFill>
                            <a:srgbClr val="202A36"/>
                          </a:solidFill>
                          <a:latin typeface="Aptos"/>
                        </a:defRPr>
                      </a:pPr>
                      <a:r>
                        <a:t>Initial</a:t>
                      </a:r>
                    </a:p>
                  </a:txBody>
                  <a:tcPr marL="91440" marR="91440">
                    <a:solidFill>
                      <a:srgbClr val="F4F6F8"/>
                    </a:solidFill>
                  </a:tcPr>
                </a:tc>
                <a:tc>
                  <a:txBody>
                    <a:bodyPr/>
                    <a:lstStyle/>
                    <a:p>
                      <a:pPr>
                        <a:defRPr sz="1500" b="0">
                          <a:solidFill>
                            <a:srgbClr val="202A36"/>
                          </a:solidFill>
                          <a:latin typeface="Aptos"/>
                        </a:defRPr>
                      </a:pPr>
                      <a:r>
                        <a:t>90</a:t>
                      </a:r>
                    </a:p>
                  </a:txBody>
                  <a:tcPr marL="91440" marR="91440">
                    <a:solidFill>
                      <a:srgbClr val="F4F6F8"/>
                    </a:solidFill>
                  </a:tcPr>
                </a:tc>
                <a:tc>
                  <a:txBody>
                    <a:bodyPr/>
                    <a:lstStyle/>
                    <a:p>
                      <a:pPr>
                        <a:defRPr sz="1500" b="0">
                          <a:solidFill>
                            <a:srgbClr val="202A36"/>
                          </a:solidFill>
                          <a:latin typeface="Aptos"/>
                        </a:defRPr>
                      </a:pPr>
                      <a:r>
                        <a:t>31.2</a:t>
                      </a:r>
                    </a:p>
                  </a:txBody>
                  <a:tcPr marL="91440" marR="91440">
                    <a:solidFill>
                      <a:srgbClr val="F4F6F8"/>
                    </a:solidFill>
                  </a:tcPr>
                </a:tc>
                <a:tc>
                  <a:txBody>
                    <a:bodyPr/>
                    <a:lstStyle/>
                    <a:p>
                      <a:pPr>
                        <a:defRPr sz="1500" b="0">
                          <a:solidFill>
                            <a:srgbClr val="202A36"/>
                          </a:solidFill>
                          <a:latin typeface="Aptos"/>
                        </a:defRPr>
                      </a:pPr>
                      <a:r>
                        <a:t>57.9</a:t>
                      </a:r>
                    </a:p>
                  </a:txBody>
                  <a:tcPr marL="91440" marR="91440">
                    <a:solidFill>
                      <a:srgbClr val="F4F6F8"/>
                    </a:solidFill>
                  </a:tcPr>
                </a:tc>
                <a:tc>
                  <a:txBody>
                    <a:bodyPr/>
                    <a:lstStyle/>
                    <a:p>
                      <a:pPr>
                        <a:defRPr sz="1500" b="0">
                          <a:solidFill>
                            <a:srgbClr val="202A36"/>
                          </a:solidFill>
                          <a:latin typeface="Aptos"/>
                        </a:defRPr>
                      </a:pPr>
                      <a:r>
                        <a:t>31.5</a:t>
                      </a:r>
                    </a:p>
                  </a:txBody>
                  <a:tcPr marL="91440" marR="91440">
                    <a:solidFill>
                      <a:srgbClr val="F4F6F8"/>
                    </a:solidFill>
                  </a:tcPr>
                </a:tc>
                <a:tc>
                  <a:txBody>
                    <a:bodyPr/>
                    <a:lstStyle/>
                    <a:p>
                      <a:pPr>
                        <a:defRPr sz="1500" b="0">
                          <a:solidFill>
                            <a:srgbClr val="202A36"/>
                          </a:solidFill>
                          <a:latin typeface="Aptos"/>
                        </a:defRPr>
                      </a:pPr>
                      <a:r>
                        <a:t>103.5</a:t>
                      </a:r>
                    </a:p>
                  </a:txBody>
                  <a:tcPr marL="91440" marR="91440">
                    <a:solidFill>
                      <a:srgbClr val="F4F6F8"/>
                    </a:solidFill>
                  </a:tcPr>
                </a:tc>
              </a:tr>
              <a:tr h="370840">
                <a:tc>
                  <a:txBody>
                    <a:bodyPr/>
                    <a:lstStyle/>
                    <a:p>
                      <a:pPr>
                        <a:defRPr sz="1500" b="0">
                          <a:solidFill>
                            <a:srgbClr val="202A36"/>
                          </a:solidFill>
                          <a:latin typeface="Aptos"/>
                        </a:defRPr>
                      </a:pPr>
                      <a:r>
                        <a:t>KL 0.01 / 91</a:t>
                      </a:r>
                    </a:p>
                  </a:txBody>
                  <a:tcPr marL="91440" marR="91440">
                    <a:solidFill>
                      <a:srgbClr val="FFFFFF"/>
                    </a:solidFill>
                  </a:tcPr>
                </a:tc>
                <a:tc>
                  <a:txBody>
                    <a:bodyPr/>
                    <a:lstStyle/>
                    <a:p>
                      <a:pPr>
                        <a:defRPr sz="1500" b="0">
                          <a:solidFill>
                            <a:srgbClr val="202A36"/>
                          </a:solidFill>
                          <a:latin typeface="Aptos"/>
                        </a:defRPr>
                      </a:pPr>
                      <a:r>
                        <a:t>107</a:t>
                      </a:r>
                    </a:p>
                  </a:txBody>
                  <a:tcPr marL="91440" marR="91440">
                    <a:solidFill>
                      <a:srgbClr val="FFFFFF"/>
                    </a:solidFill>
                  </a:tcPr>
                </a:tc>
                <a:tc>
                  <a:txBody>
                    <a:bodyPr/>
                    <a:lstStyle/>
                    <a:p>
                      <a:pPr>
                        <a:defRPr sz="1500" b="0">
                          <a:solidFill>
                            <a:srgbClr val="202A36"/>
                          </a:solidFill>
                          <a:latin typeface="Aptos"/>
                        </a:defRPr>
                      </a:pPr>
                      <a:r>
                        <a:t>37.2</a:t>
                      </a:r>
                    </a:p>
                  </a:txBody>
                  <a:tcPr marL="91440" marR="91440">
                    <a:solidFill>
                      <a:srgbClr val="FFFFFF"/>
                    </a:solidFill>
                  </a:tcPr>
                </a:tc>
                <a:tc>
                  <a:txBody>
                    <a:bodyPr/>
                    <a:lstStyle/>
                    <a:p>
                      <a:pPr>
                        <a:defRPr sz="1500" b="0">
                          <a:solidFill>
                            <a:srgbClr val="202A36"/>
                          </a:solidFill>
                          <a:latin typeface="Aptos"/>
                        </a:defRPr>
                      </a:pPr>
                      <a:r>
                        <a:t>66.3</a:t>
                      </a:r>
                    </a:p>
                  </a:txBody>
                  <a:tcPr marL="91440" marR="91440">
                    <a:solidFill>
                      <a:srgbClr val="FFFFFF"/>
                    </a:solidFill>
                  </a:tcPr>
                </a:tc>
                <a:tc>
                  <a:txBody>
                    <a:bodyPr/>
                    <a:lstStyle/>
                    <a:p>
                      <a:pPr>
                        <a:defRPr sz="1500" b="0">
                          <a:solidFill>
                            <a:srgbClr val="202A36"/>
                          </a:solidFill>
                          <a:latin typeface="Aptos"/>
                        </a:defRPr>
                      </a:pPr>
                      <a:r>
                        <a:t>27.5</a:t>
                      </a:r>
                    </a:p>
                  </a:txBody>
                  <a:tcPr marL="91440" marR="91440">
                    <a:solidFill>
                      <a:srgbClr val="FFFFFF"/>
                    </a:solidFill>
                  </a:tcPr>
                </a:tc>
                <a:tc>
                  <a:txBody>
                    <a:bodyPr/>
                    <a:lstStyle/>
                    <a:p>
                      <a:pPr>
                        <a:defRPr sz="1500" b="0">
                          <a:solidFill>
                            <a:srgbClr val="202A36"/>
                          </a:solidFill>
                          <a:latin typeface="Aptos"/>
                        </a:defRPr>
                      </a:pPr>
                      <a:r>
                        <a:t>98.5</a:t>
                      </a:r>
                    </a:p>
                  </a:txBody>
                  <a:tcPr marL="91440" marR="91440">
                    <a:solidFill>
                      <a:srgbClr val="FFFFFF"/>
                    </a:solidFill>
                  </a:tcPr>
                </a:tc>
              </a:tr>
              <a:tr h="370840">
                <a:tc>
                  <a:txBody>
                    <a:bodyPr/>
                    <a:lstStyle/>
                    <a:p>
                      <a:pPr>
                        <a:defRPr sz="1500" b="0">
                          <a:solidFill>
                            <a:srgbClr val="202A36"/>
                          </a:solidFill>
                          <a:latin typeface="Aptos"/>
                        </a:defRPr>
                      </a:pPr>
                      <a:r>
                        <a:t>KL 0.01 / 182</a:t>
                      </a:r>
                    </a:p>
                  </a:txBody>
                  <a:tcPr marL="91440" marR="91440">
                    <a:solidFill>
                      <a:srgbClr val="F4F6F8"/>
                    </a:solidFill>
                  </a:tcPr>
                </a:tc>
                <a:tc>
                  <a:txBody>
                    <a:bodyPr/>
                    <a:lstStyle/>
                    <a:p>
                      <a:pPr>
                        <a:defRPr sz="1500" b="0">
                          <a:solidFill>
                            <a:srgbClr val="202A36"/>
                          </a:solidFill>
                          <a:latin typeface="Aptos"/>
                        </a:defRPr>
                      </a:pPr>
                      <a:r>
                        <a:t>107</a:t>
                      </a:r>
                    </a:p>
                  </a:txBody>
                  <a:tcPr marL="91440" marR="91440">
                    <a:solidFill>
                      <a:srgbClr val="F4F6F8"/>
                    </a:solidFill>
                  </a:tcPr>
                </a:tc>
                <a:tc>
                  <a:txBody>
                    <a:bodyPr/>
                    <a:lstStyle/>
                    <a:p>
                      <a:pPr>
                        <a:defRPr sz="1500" b="0">
                          <a:solidFill>
                            <a:srgbClr val="202A36"/>
                          </a:solidFill>
                          <a:latin typeface="Aptos"/>
                        </a:defRPr>
                      </a:pPr>
                      <a:r>
                        <a:t>37.2</a:t>
                      </a:r>
                    </a:p>
                  </a:txBody>
                  <a:tcPr marL="91440" marR="91440">
                    <a:solidFill>
                      <a:srgbClr val="F4F6F8"/>
                    </a:solidFill>
                  </a:tcPr>
                </a:tc>
                <a:tc>
                  <a:txBody>
                    <a:bodyPr/>
                    <a:lstStyle/>
                    <a:p>
                      <a:pPr>
                        <a:defRPr sz="1500" b="0">
                          <a:solidFill>
                            <a:srgbClr val="202A36"/>
                          </a:solidFill>
                          <a:latin typeface="Aptos"/>
                        </a:defRPr>
                      </a:pPr>
                      <a:r>
                        <a:t>67.8</a:t>
                      </a:r>
                    </a:p>
                  </a:txBody>
                  <a:tcPr marL="91440" marR="91440">
                    <a:solidFill>
                      <a:srgbClr val="F4F6F8"/>
                    </a:solidFill>
                  </a:tcPr>
                </a:tc>
                <a:tc>
                  <a:txBody>
                    <a:bodyPr/>
                    <a:lstStyle/>
                    <a:p>
                      <a:pPr>
                        <a:defRPr sz="1500" b="0">
                          <a:solidFill>
                            <a:srgbClr val="202A36"/>
                          </a:solidFill>
                          <a:latin typeface="Aptos"/>
                        </a:defRPr>
                      </a:pPr>
                      <a:r>
                        <a:t>30.9</a:t>
                      </a:r>
                    </a:p>
                  </a:txBody>
                  <a:tcPr marL="91440" marR="91440">
                    <a:solidFill>
                      <a:srgbClr val="F4F6F8"/>
                    </a:solidFill>
                  </a:tcPr>
                </a:tc>
                <a:tc>
                  <a:txBody>
                    <a:bodyPr/>
                    <a:lstStyle/>
                    <a:p>
                      <a:pPr>
                        <a:defRPr sz="1500" b="0">
                          <a:solidFill>
                            <a:srgbClr val="202A36"/>
                          </a:solidFill>
                          <a:latin typeface="Aptos"/>
                        </a:defRPr>
                      </a:pPr>
                      <a:r>
                        <a:t>103.5</a:t>
                      </a:r>
                    </a:p>
                  </a:txBody>
                  <a:tcPr marL="91440" marR="91440">
                    <a:solidFill>
                      <a:srgbClr val="F4F6F8"/>
                    </a:solidFill>
                  </a:tcPr>
                </a:tc>
              </a:tr>
              <a:tr h="370840">
                <a:tc>
                  <a:txBody>
                    <a:bodyPr/>
                    <a:lstStyle/>
                    <a:p>
                      <a:pPr>
                        <a:defRPr sz="1500" b="0">
                          <a:solidFill>
                            <a:srgbClr val="202A36"/>
                          </a:solidFill>
                          <a:latin typeface="Aptos"/>
                        </a:defRPr>
                      </a:pPr>
                      <a:r>
                        <a:t>KL 0.01 / 273</a:t>
                      </a:r>
                    </a:p>
                  </a:txBody>
                  <a:tcPr marL="91440" marR="91440">
                    <a:solidFill>
                      <a:srgbClr val="FFFFFF"/>
                    </a:solidFill>
                  </a:tcPr>
                </a:tc>
                <a:tc>
                  <a:txBody>
                    <a:bodyPr/>
                    <a:lstStyle/>
                    <a:p>
                      <a:pPr>
                        <a:defRPr sz="1500" b="0">
                          <a:solidFill>
                            <a:srgbClr val="202A36"/>
                          </a:solidFill>
                          <a:latin typeface="Aptos"/>
                        </a:defRPr>
                      </a:pPr>
                      <a:r>
                        <a:t>105</a:t>
                      </a:r>
                    </a:p>
                  </a:txBody>
                  <a:tcPr marL="91440" marR="91440">
                    <a:solidFill>
                      <a:srgbClr val="FFFFFF"/>
                    </a:solidFill>
                  </a:tcPr>
                </a:tc>
                <a:tc>
                  <a:txBody>
                    <a:bodyPr/>
                    <a:lstStyle/>
                    <a:p>
                      <a:pPr>
                        <a:defRPr sz="1500" b="0">
                          <a:solidFill>
                            <a:srgbClr val="202A36"/>
                          </a:solidFill>
                          <a:latin typeface="Aptos"/>
                        </a:defRPr>
                      </a:pPr>
                      <a:r>
                        <a:t>36.5</a:t>
                      </a:r>
                    </a:p>
                  </a:txBody>
                  <a:tcPr marL="91440" marR="91440">
                    <a:solidFill>
                      <a:srgbClr val="FFFFFF"/>
                    </a:solidFill>
                  </a:tcPr>
                </a:tc>
                <a:tc>
                  <a:txBody>
                    <a:bodyPr/>
                    <a:lstStyle/>
                    <a:p>
                      <a:pPr>
                        <a:defRPr sz="1500" b="0">
                          <a:solidFill>
                            <a:srgbClr val="202A36"/>
                          </a:solidFill>
                          <a:latin typeface="Aptos"/>
                        </a:defRPr>
                      </a:pPr>
                      <a:r>
                        <a:t>66.4</a:t>
                      </a:r>
                    </a:p>
                  </a:txBody>
                  <a:tcPr marL="91440" marR="91440">
                    <a:solidFill>
                      <a:srgbClr val="FFFFFF"/>
                    </a:solidFill>
                  </a:tcPr>
                </a:tc>
                <a:tc>
                  <a:txBody>
                    <a:bodyPr/>
                    <a:lstStyle/>
                    <a:p>
                      <a:pPr>
                        <a:defRPr sz="1500" b="0">
                          <a:solidFill>
                            <a:srgbClr val="202A36"/>
                          </a:solidFill>
                          <a:latin typeface="Aptos"/>
                        </a:defRPr>
                      </a:pPr>
                      <a:r>
                        <a:t>30.2</a:t>
                      </a:r>
                    </a:p>
                  </a:txBody>
                  <a:tcPr marL="91440" marR="91440">
                    <a:solidFill>
                      <a:srgbClr val="FFFFFF"/>
                    </a:solidFill>
                  </a:tcPr>
                </a:tc>
                <a:tc>
                  <a:txBody>
                    <a:bodyPr/>
                    <a:lstStyle/>
                    <a:p>
                      <a:pPr>
                        <a:defRPr sz="1500" b="0">
                          <a:solidFill>
                            <a:srgbClr val="202A36"/>
                          </a:solidFill>
                          <a:latin typeface="Aptos"/>
                        </a:defRPr>
                      </a:pPr>
                      <a:r>
                        <a:t>97.0</a:t>
                      </a:r>
                    </a:p>
                  </a:txBody>
                  <a:tcPr marL="91440" marR="91440">
                    <a:solidFill>
                      <a:srgbClr val="FFFFFF"/>
                    </a:solidFill>
                  </a:tcPr>
                </a:tc>
              </a:tr>
              <a:tr h="370840">
                <a:tc>
                  <a:txBody>
                    <a:bodyPr/>
                    <a:lstStyle/>
                    <a:p>
                      <a:pPr>
                        <a:defRPr sz="1500" b="0">
                          <a:solidFill>
                            <a:srgbClr val="202A36"/>
                          </a:solidFill>
                          <a:latin typeface="Aptos"/>
                        </a:defRPr>
                      </a:pPr>
                      <a:r>
                        <a:t>KL 0.01 / 364</a:t>
                      </a:r>
                    </a:p>
                  </a:txBody>
                  <a:tcPr marL="91440" marR="91440">
                    <a:solidFill>
                      <a:srgbClr val="F4F6F8"/>
                    </a:solidFill>
                  </a:tcPr>
                </a:tc>
                <a:tc>
                  <a:txBody>
                    <a:bodyPr/>
                    <a:lstStyle/>
                    <a:p>
                      <a:pPr>
                        <a:defRPr sz="1500" b="0">
                          <a:solidFill>
                            <a:srgbClr val="202A36"/>
                          </a:solidFill>
                          <a:latin typeface="Aptos"/>
                        </a:defRPr>
                      </a:pPr>
                      <a:r>
                        <a:t>96</a:t>
                      </a:r>
                    </a:p>
                  </a:txBody>
                  <a:tcPr marL="91440" marR="91440">
                    <a:solidFill>
                      <a:srgbClr val="F4F6F8"/>
                    </a:solidFill>
                  </a:tcPr>
                </a:tc>
                <a:tc>
                  <a:txBody>
                    <a:bodyPr/>
                    <a:lstStyle/>
                    <a:p>
                      <a:pPr>
                        <a:defRPr sz="1500" b="0">
                          <a:solidFill>
                            <a:srgbClr val="202A36"/>
                          </a:solidFill>
                          <a:latin typeface="Aptos"/>
                        </a:defRPr>
                      </a:pPr>
                      <a:r>
                        <a:t>33.3</a:t>
                      </a:r>
                    </a:p>
                  </a:txBody>
                  <a:tcPr marL="91440" marR="91440">
                    <a:solidFill>
                      <a:srgbClr val="F4F6F8"/>
                    </a:solidFill>
                  </a:tcPr>
                </a:tc>
                <a:tc>
                  <a:txBody>
                    <a:bodyPr/>
                    <a:lstStyle/>
                    <a:p>
                      <a:pPr>
                        <a:defRPr sz="1500" b="0">
                          <a:solidFill>
                            <a:srgbClr val="202A36"/>
                          </a:solidFill>
                          <a:latin typeface="Aptos"/>
                        </a:defRPr>
                      </a:pPr>
                      <a:r>
                        <a:t>62.9</a:t>
                      </a:r>
                    </a:p>
                  </a:txBody>
                  <a:tcPr marL="91440" marR="91440">
                    <a:solidFill>
                      <a:srgbClr val="F4F6F8"/>
                    </a:solidFill>
                  </a:tcPr>
                </a:tc>
                <a:tc>
                  <a:txBody>
                    <a:bodyPr/>
                    <a:lstStyle/>
                    <a:p>
                      <a:pPr>
                        <a:defRPr sz="1500" b="0">
                          <a:solidFill>
                            <a:srgbClr val="202A36"/>
                          </a:solidFill>
                          <a:latin typeface="Aptos"/>
                        </a:defRPr>
                      </a:pPr>
                      <a:r>
                        <a:t>28.4</a:t>
                      </a:r>
                    </a:p>
                  </a:txBody>
                  <a:tcPr marL="91440" marR="91440">
                    <a:solidFill>
                      <a:srgbClr val="F4F6F8"/>
                    </a:solidFill>
                  </a:tcPr>
                </a:tc>
                <a:tc>
                  <a:txBody>
                    <a:bodyPr/>
                    <a:lstStyle/>
                    <a:p>
                      <a:pPr>
                        <a:defRPr sz="1500" b="0">
                          <a:solidFill>
                            <a:srgbClr val="202A36"/>
                          </a:solidFill>
                          <a:latin typeface="Aptos"/>
                        </a:defRPr>
                      </a:pPr>
                      <a:r>
                        <a:t>93.5</a:t>
                      </a:r>
                    </a:p>
                  </a:txBody>
                  <a:tcPr marL="91440" marR="91440">
                    <a:solidFill>
                      <a:srgbClr val="F4F6F8"/>
                    </a:solidFill>
                  </a:tcPr>
                </a:tc>
              </a:tr>
              <a:tr h="370840">
                <a:tc>
                  <a:txBody>
                    <a:bodyPr/>
                    <a:lstStyle/>
                    <a:p>
                      <a:pPr>
                        <a:defRPr sz="1500" b="0">
                          <a:solidFill>
                            <a:srgbClr val="202A36"/>
                          </a:solidFill>
                          <a:latin typeface="Aptos"/>
                        </a:defRPr>
                      </a:pPr>
                      <a:r>
                        <a:t>KL 0.002 / 364</a:t>
                      </a:r>
                    </a:p>
                  </a:txBody>
                  <a:tcPr marL="91440" marR="91440">
                    <a:solidFill>
                      <a:srgbClr val="FFFFFF"/>
                    </a:solidFill>
                  </a:tcPr>
                </a:tc>
                <a:tc>
                  <a:txBody>
                    <a:bodyPr/>
                    <a:lstStyle/>
                    <a:p>
                      <a:pPr>
                        <a:defRPr sz="1500" b="0">
                          <a:solidFill>
                            <a:srgbClr val="202A36"/>
                          </a:solidFill>
                          <a:latin typeface="Aptos"/>
                        </a:defRPr>
                      </a:pPr>
                      <a:r>
                        <a:t>126</a:t>
                      </a:r>
                    </a:p>
                  </a:txBody>
                  <a:tcPr marL="91440" marR="91440">
                    <a:solidFill>
                      <a:srgbClr val="FFFFFF"/>
                    </a:solidFill>
                  </a:tcPr>
                </a:tc>
                <a:tc>
                  <a:txBody>
                    <a:bodyPr/>
                    <a:lstStyle/>
                    <a:p>
                      <a:pPr>
                        <a:defRPr sz="1500" b="0">
                          <a:solidFill>
                            <a:srgbClr val="202A36"/>
                          </a:solidFill>
                          <a:latin typeface="Aptos"/>
                        </a:defRPr>
                      </a:pPr>
                      <a:r>
                        <a:t>43.8</a:t>
                      </a:r>
                    </a:p>
                  </a:txBody>
                  <a:tcPr marL="91440" marR="91440">
                    <a:solidFill>
                      <a:srgbClr val="FFFFFF"/>
                    </a:solidFill>
                  </a:tcPr>
                </a:tc>
                <a:tc>
                  <a:txBody>
                    <a:bodyPr/>
                    <a:lstStyle/>
                    <a:p>
                      <a:pPr>
                        <a:defRPr sz="1500" b="0">
                          <a:solidFill>
                            <a:srgbClr val="202A36"/>
                          </a:solidFill>
                          <a:latin typeface="Aptos"/>
                        </a:defRPr>
                      </a:pPr>
                      <a:r>
                        <a:t>66.6</a:t>
                      </a:r>
                    </a:p>
                  </a:txBody>
                  <a:tcPr marL="91440" marR="91440">
                    <a:solidFill>
                      <a:srgbClr val="FFFFFF"/>
                    </a:solidFill>
                  </a:tcPr>
                </a:tc>
                <a:tc>
                  <a:txBody>
                    <a:bodyPr/>
                    <a:lstStyle/>
                    <a:p>
                      <a:pPr>
                        <a:defRPr sz="1500" b="0">
                          <a:solidFill>
                            <a:srgbClr val="202A36"/>
                          </a:solidFill>
                          <a:latin typeface="Aptos"/>
                        </a:defRPr>
                      </a:pPr>
                      <a:r>
                        <a:t>23.1</a:t>
                      </a:r>
                    </a:p>
                  </a:txBody>
                  <a:tcPr marL="91440" marR="91440">
                    <a:solidFill>
                      <a:srgbClr val="FFFFFF"/>
                    </a:solidFill>
                  </a:tcPr>
                </a:tc>
                <a:tc>
                  <a:txBody>
                    <a:bodyPr/>
                    <a:lstStyle/>
                    <a:p>
                      <a:pPr>
                        <a:defRPr sz="1500" b="0">
                          <a:solidFill>
                            <a:srgbClr val="202A36"/>
                          </a:solidFill>
                          <a:latin typeface="Aptos"/>
                        </a:defRPr>
                      </a:pPr>
                      <a:r>
                        <a:t>60.5</a:t>
                      </a:r>
                    </a:p>
                  </a:txBody>
                  <a:tcPr marL="91440" marR="91440">
                    <a:solidFill>
                      <a:srgbClr val="FFFFFF"/>
                    </a:solidFill>
                  </a:tcPr>
                </a:tc>
              </a:tr>
              <a:tr h="370840">
                <a:tc>
                  <a:txBody>
                    <a:bodyPr/>
                    <a:lstStyle/>
                    <a:p>
                      <a:pPr>
                        <a:defRPr sz="1500" b="0">
                          <a:solidFill>
                            <a:srgbClr val="202A36"/>
                          </a:solidFill>
                          <a:latin typeface="Aptos"/>
                        </a:defRPr>
                      </a:pPr>
                      <a:r>
                        <a:t>KL 0.005 / 364</a:t>
                      </a:r>
                    </a:p>
                  </a:txBody>
                  <a:tcPr marL="91440" marR="91440">
                    <a:solidFill>
                      <a:srgbClr val="F4F6F8"/>
                    </a:solidFill>
                  </a:tcPr>
                </a:tc>
                <a:tc>
                  <a:txBody>
                    <a:bodyPr/>
                    <a:lstStyle/>
                    <a:p>
                      <a:pPr>
                        <a:defRPr sz="1500" b="0">
                          <a:solidFill>
                            <a:srgbClr val="202A36"/>
                          </a:solidFill>
                          <a:latin typeface="Aptos"/>
                        </a:defRPr>
                      </a:pPr>
                      <a:r>
                        <a:t>123</a:t>
                      </a:r>
                    </a:p>
                  </a:txBody>
                  <a:tcPr marL="91440" marR="91440">
                    <a:solidFill>
                      <a:srgbClr val="F4F6F8"/>
                    </a:solidFill>
                  </a:tcPr>
                </a:tc>
                <a:tc>
                  <a:txBody>
                    <a:bodyPr/>
                    <a:lstStyle/>
                    <a:p>
                      <a:pPr>
                        <a:defRPr sz="1500" b="0">
                          <a:solidFill>
                            <a:srgbClr val="202A36"/>
                          </a:solidFill>
                          <a:latin typeface="Aptos"/>
                        </a:defRPr>
                      </a:pPr>
                      <a:r>
                        <a:t>42.7</a:t>
                      </a:r>
                    </a:p>
                  </a:txBody>
                  <a:tcPr marL="91440" marR="91440">
                    <a:solidFill>
                      <a:srgbClr val="F4F6F8"/>
                    </a:solidFill>
                  </a:tcPr>
                </a:tc>
                <a:tc>
                  <a:txBody>
                    <a:bodyPr/>
                    <a:lstStyle/>
                    <a:p>
                      <a:pPr>
                        <a:defRPr sz="1500" b="0">
                          <a:solidFill>
                            <a:srgbClr val="202A36"/>
                          </a:solidFill>
                          <a:latin typeface="Aptos"/>
                        </a:defRPr>
                      </a:pPr>
                      <a:r>
                        <a:t>68.6</a:t>
                      </a:r>
                    </a:p>
                  </a:txBody>
                  <a:tcPr marL="91440" marR="91440">
                    <a:solidFill>
                      <a:srgbClr val="F4F6F8"/>
                    </a:solidFill>
                  </a:tcPr>
                </a:tc>
                <a:tc>
                  <a:txBody>
                    <a:bodyPr/>
                    <a:lstStyle/>
                    <a:p>
                      <a:pPr>
                        <a:defRPr sz="1500" b="0">
                          <a:solidFill>
                            <a:srgbClr val="202A36"/>
                          </a:solidFill>
                          <a:latin typeface="Aptos"/>
                        </a:defRPr>
                      </a:pPr>
                      <a:r>
                        <a:t>26.5</a:t>
                      </a:r>
                    </a:p>
                  </a:txBody>
                  <a:tcPr marL="91440" marR="91440">
                    <a:solidFill>
                      <a:srgbClr val="F4F6F8"/>
                    </a:solidFill>
                  </a:tcPr>
                </a:tc>
                <a:tc>
                  <a:txBody>
                    <a:bodyPr/>
                    <a:lstStyle/>
                    <a:p>
                      <a:pPr>
                        <a:defRPr sz="1500" b="0">
                          <a:solidFill>
                            <a:srgbClr val="202A36"/>
                          </a:solidFill>
                          <a:latin typeface="Aptos"/>
                        </a:defRPr>
                      </a:pPr>
                      <a:r>
                        <a:t>70.0</a:t>
                      </a:r>
                    </a:p>
                  </a:txBody>
                  <a:tcPr marL="91440" marR="91440">
                    <a:solidFill>
                      <a:srgbClr val="F4F6F8"/>
                    </a:solidFill>
                  </a:tcPr>
                </a:tc>
              </a:tr>
              <a:tr h="370840">
                <a:tc>
                  <a:txBody>
                    <a:bodyPr/>
                    <a:lstStyle/>
                    <a:p>
                      <a:pPr>
                        <a:defRPr sz="1500" b="0">
                          <a:solidFill>
                            <a:srgbClr val="202A36"/>
                          </a:solidFill>
                          <a:latin typeface="Aptos"/>
                        </a:defRPr>
                      </a:pPr>
                      <a:r>
                        <a:t>KL 0.02 / 364</a:t>
                      </a:r>
                    </a:p>
                  </a:txBody>
                  <a:tcPr marL="91440" marR="91440">
                    <a:solidFill>
                      <a:srgbClr val="FFFFFF"/>
                    </a:solidFill>
                  </a:tcPr>
                </a:tc>
                <a:tc>
                  <a:txBody>
                    <a:bodyPr/>
                    <a:lstStyle/>
                    <a:p>
                      <a:pPr>
                        <a:defRPr sz="1500" b="0">
                          <a:solidFill>
                            <a:srgbClr val="202A36"/>
                          </a:solidFill>
                          <a:latin typeface="Aptos"/>
                        </a:defRPr>
                      </a:pPr>
                      <a:r>
                        <a:t>93</a:t>
                      </a:r>
                    </a:p>
                  </a:txBody>
                  <a:tcPr marL="91440" marR="91440">
                    <a:solidFill>
                      <a:srgbClr val="FFFFFF"/>
                    </a:solidFill>
                  </a:tcPr>
                </a:tc>
                <a:tc>
                  <a:txBody>
                    <a:bodyPr/>
                    <a:lstStyle/>
                    <a:p>
                      <a:pPr>
                        <a:defRPr sz="1500" b="0">
                          <a:solidFill>
                            <a:srgbClr val="202A36"/>
                          </a:solidFill>
                          <a:latin typeface="Aptos"/>
                        </a:defRPr>
                      </a:pPr>
                      <a:r>
                        <a:t>32.3</a:t>
                      </a:r>
                    </a:p>
                  </a:txBody>
                  <a:tcPr marL="91440" marR="91440">
                    <a:solidFill>
                      <a:srgbClr val="FFFFFF"/>
                    </a:solidFill>
                  </a:tcPr>
                </a:tc>
                <a:tc>
                  <a:txBody>
                    <a:bodyPr/>
                    <a:lstStyle/>
                    <a:p>
                      <a:pPr>
                        <a:defRPr sz="1500" b="0">
                          <a:solidFill>
                            <a:srgbClr val="202A36"/>
                          </a:solidFill>
                          <a:latin typeface="Aptos"/>
                        </a:defRPr>
                      </a:pPr>
                      <a:r>
                        <a:t>61.7</a:t>
                      </a:r>
                    </a:p>
                  </a:txBody>
                  <a:tcPr marL="91440" marR="91440">
                    <a:solidFill>
                      <a:srgbClr val="FFFFFF"/>
                    </a:solidFill>
                  </a:tcPr>
                </a:tc>
                <a:tc>
                  <a:txBody>
                    <a:bodyPr/>
                    <a:lstStyle/>
                    <a:p>
                      <a:pPr>
                        <a:defRPr sz="1500" b="0">
                          <a:solidFill>
                            <a:srgbClr val="202A36"/>
                          </a:solidFill>
                          <a:latin typeface="Aptos"/>
                        </a:defRPr>
                      </a:pPr>
                      <a:r>
                        <a:t>32.1</a:t>
                      </a:r>
                    </a:p>
                  </a:txBody>
                  <a:tcPr marL="91440" marR="91440">
                    <a:solidFill>
                      <a:srgbClr val="FFFFFF"/>
                    </a:solidFill>
                  </a:tcPr>
                </a:tc>
                <a:tc>
                  <a:txBody>
                    <a:bodyPr/>
                    <a:lstStyle/>
                    <a:p>
                      <a:pPr>
                        <a:defRPr sz="1500" b="0">
                          <a:solidFill>
                            <a:srgbClr val="202A36"/>
                          </a:solidFill>
                          <a:latin typeface="Aptos"/>
                        </a:defRPr>
                      </a:pPr>
                      <a:r>
                        <a:t>113.5</a:t>
                      </a:r>
                    </a:p>
                  </a:txBody>
                  <a:tcPr marL="91440" marR="91440">
                    <a:solidFill>
                      <a:srgbClr val="FFFFFF"/>
                    </a:solidFill>
                  </a:tcPr>
                </a:tc>
              </a:tr>
            </a:tbl>
          </a:graphicData>
        </a:graphic>
      </p:graphicFrame>
      <p:sp>
        <p:nvSpPr>
          <p:cNvPr id="6" name="TextBox 5"/>
          <p:cNvSpPr txBox="1"/>
          <p:nvPr/>
        </p:nvSpPr>
        <p:spPr>
          <a:xfrm>
            <a:off x="594360" y="6492240"/>
            <a:ext cx="2743200" cy="182880"/>
          </a:xfrm>
          <a:prstGeom prst="rect">
            <a:avLst/>
          </a:prstGeom>
          <a:noFill/>
        </p:spPr>
        <p:txBody>
          <a:bodyPr wrap="square" lIns="0" rIns="0">
            <a:spAutoFit/>
          </a:bodyPr>
          <a:lstStyle/>
          <a:p>
            <a:pPr>
              <a:defRPr sz="1100" b="0">
                <a:solidFill>
                  <a:srgbClr val="6B7480"/>
                </a:solidFill>
                <a:latin typeface="Aptos"/>
              </a:defRPr>
            </a:pPr>
            <a:r>
              <a:t>05  /  BACKUP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155680" cy="914400"/>
          </a:xfrm>
          <a:prstGeom prst="rect">
            <a:avLst/>
          </a:prstGeom>
          <a:noFill/>
        </p:spPr>
        <p:txBody>
          <a:bodyPr wrap="square" lIns="0" rIns="0">
            <a:spAutoFit/>
          </a:bodyPr>
          <a:lstStyle/>
          <a:p>
            <a:pPr>
              <a:defRPr sz="3000" b="1">
                <a:solidFill>
                  <a:srgbClr val="202A36"/>
                </a:solidFill>
                <a:latin typeface="Aptos"/>
              </a:defRPr>
            </a:pPr>
            <a:r>
              <a:t>Qwen: elicitation and length-matched checks</a:t>
            </a:r>
          </a:p>
        </p:txBody>
      </p:sp>
      <p:sp>
        <p:nvSpPr>
          <p:cNvPr id="3" name="TextBox 2"/>
          <p:cNvSpPr txBox="1"/>
          <p:nvPr/>
        </p:nvSpPr>
        <p:spPr>
          <a:xfrm>
            <a:off x="594360" y="1280160"/>
            <a:ext cx="10972800" cy="676656"/>
          </a:xfrm>
          <a:prstGeom prst="rect">
            <a:avLst/>
          </a:prstGeom>
          <a:noFill/>
        </p:spPr>
        <p:txBody>
          <a:bodyPr wrap="square" lIns="0" rIns="0">
            <a:spAutoFit/>
          </a:bodyPr>
          <a:lstStyle/>
          <a:p>
            <a:pPr>
              <a:defRPr sz="2100" b="0">
                <a:solidFill>
                  <a:srgbClr val="202A36"/>
                </a:solidFill>
                <a:latin typeface="Aptos"/>
              </a:defRPr>
            </a:pPr>
            <a:r>
              <a:t>• Four-shot gains remain positive within sparse length overlap; KL 0.002 retains 48/288 pairs with exact P = 0.125.</a:t>
            </a:r>
          </a:p>
        </p:txBody>
      </p:sp>
      <p:sp>
        <p:nvSpPr>
          <p:cNvPr id="4" name="TextBox 3"/>
          <p:cNvSpPr txBox="1"/>
          <p:nvPr/>
        </p:nvSpPr>
        <p:spPr>
          <a:xfrm>
            <a:off x="594360" y="1938528"/>
            <a:ext cx="10972800" cy="676656"/>
          </a:xfrm>
          <a:prstGeom prst="rect">
            <a:avLst/>
          </a:prstGeom>
          <a:noFill/>
        </p:spPr>
        <p:txBody>
          <a:bodyPr wrap="square" lIns="0" rIns="0">
            <a:spAutoFit/>
          </a:bodyPr>
          <a:lstStyle/>
          <a:p>
            <a:pPr>
              <a:defRPr sz="2100" b="0">
                <a:solidFill>
                  <a:srgbClr val="202A36"/>
                </a:solidFill>
                <a:latin typeface="Aptos"/>
              </a:defRPr>
            </a:pPr>
            <a:r>
              <a:t>• Zero-shot stays near zero, and its wording also differs from four-shot; attainable control capacity remains unresolved.</a:t>
            </a:r>
          </a:p>
        </p:txBody>
      </p:sp>
      <p:graphicFrame>
        <p:nvGraphicFramePr>
          <p:cNvPr id="5" name="Table 4"/>
          <p:cNvGraphicFramePr>
            <a:graphicFrameLocks noGrp="1"/>
          </p:cNvGraphicFramePr>
          <p:nvPr/>
        </p:nvGraphicFramePr>
        <p:xfrm>
          <a:off x="594360" y="2788920"/>
          <a:ext cx="10972800" cy="3337560"/>
        </p:xfrm>
        <a:graphic>
          <a:graphicData uri="http://schemas.openxmlformats.org/drawingml/2006/table">
            <a:tbl>
              <a:tblPr firstRow="1" bandRow="1">
                <a:tableStyleId>{5C22544A-7EE6-4342-B048-85BDC9FD1C3A}</a:tableStyleId>
              </a:tblPr>
              <a:tblGrid>
                <a:gridCol w="1828800"/>
                <a:gridCol w="1828800"/>
                <a:gridCol w="1828800"/>
                <a:gridCol w="1828800"/>
                <a:gridCol w="1828800"/>
                <a:gridCol w="1828800"/>
              </a:tblGrid>
              <a:tr h="667512">
                <a:tc>
                  <a:txBody>
                    <a:bodyPr/>
                    <a:lstStyle/>
                    <a:p>
                      <a:pPr>
                        <a:defRPr sz="1500" b="1">
                          <a:solidFill>
                            <a:srgbClr val="202A36"/>
                          </a:solidFill>
                          <a:latin typeface="Aptos"/>
                        </a:defRPr>
                      </a:pPr>
                      <a:r>
                        <a:t>Final KL</a:t>
                      </a:r>
                    </a:p>
                  </a:txBody>
                  <a:tcPr marL="91440" marR="91440">
                    <a:solidFill>
                      <a:srgbClr val="E8F1F5"/>
                    </a:solidFill>
                  </a:tcPr>
                </a:tc>
                <a:tc>
                  <a:txBody>
                    <a:bodyPr/>
                    <a:lstStyle/>
                    <a:p>
                      <a:pPr>
                        <a:defRPr sz="1500" b="1">
                          <a:solidFill>
                            <a:srgbClr val="202A36"/>
                          </a:solidFill>
                          <a:latin typeface="Aptos"/>
                        </a:defRPr>
                      </a:pPr>
                      <a:r>
                        <a:t>Matched pairs</a:t>
                      </a:r>
                    </a:p>
                  </a:txBody>
                  <a:tcPr marL="91440" marR="91440">
                    <a:solidFill>
                      <a:srgbClr val="E8F1F5"/>
                    </a:solidFill>
                  </a:tcPr>
                </a:tc>
                <a:tc>
                  <a:txBody>
                    <a:bodyPr/>
                    <a:lstStyle/>
                    <a:p>
                      <a:pPr>
                        <a:defRPr sz="1500" b="1">
                          <a:solidFill>
                            <a:srgbClr val="202A36"/>
                          </a:solidFill>
                          <a:latin typeface="Aptos"/>
                        </a:defRPr>
                      </a:pPr>
                      <a:r>
                        <a:t>Before</a:t>
                      </a:r>
                    </a:p>
                  </a:txBody>
                  <a:tcPr marL="91440" marR="91440">
                    <a:solidFill>
                      <a:srgbClr val="E8F1F5"/>
                    </a:solidFill>
                  </a:tcPr>
                </a:tc>
                <a:tc>
                  <a:txBody>
                    <a:bodyPr/>
                    <a:lstStyle/>
                    <a:p>
                      <a:pPr>
                        <a:defRPr sz="1500" b="1">
                          <a:solidFill>
                            <a:srgbClr val="202A36"/>
                          </a:solidFill>
                          <a:latin typeface="Aptos"/>
                        </a:defRPr>
                      </a:pPr>
                      <a:r>
                        <a:t>After</a:t>
                      </a:r>
                    </a:p>
                  </a:txBody>
                  <a:tcPr marL="91440" marR="91440">
                    <a:solidFill>
                      <a:srgbClr val="E8F1F5"/>
                    </a:solidFill>
                  </a:tcPr>
                </a:tc>
                <a:tc>
                  <a:txBody>
                    <a:bodyPr/>
                    <a:lstStyle/>
                    <a:p>
                      <a:pPr>
                        <a:defRPr sz="1500" b="1">
                          <a:solidFill>
                            <a:srgbClr val="202A36"/>
                          </a:solidFill>
                          <a:latin typeface="Aptos"/>
                        </a:defRPr>
                      </a:pPr>
                      <a:r>
                        <a:t>Change (pp)</a:t>
                      </a:r>
                    </a:p>
                  </a:txBody>
                  <a:tcPr marL="91440" marR="91440">
                    <a:solidFill>
                      <a:srgbClr val="E8F1F5"/>
                    </a:solidFill>
                  </a:tcPr>
                </a:tc>
                <a:tc>
                  <a:txBody>
                    <a:bodyPr/>
                    <a:lstStyle/>
                    <a:p>
                      <a:pPr>
                        <a:defRPr sz="1500" b="1">
                          <a:solidFill>
                            <a:srgbClr val="202A36"/>
                          </a:solidFill>
                          <a:latin typeface="Aptos"/>
                        </a:defRPr>
                      </a:pPr>
                      <a:r>
                        <a:t>Exact P</a:t>
                      </a:r>
                    </a:p>
                  </a:txBody>
                  <a:tcPr marL="91440" marR="91440">
                    <a:solidFill>
                      <a:srgbClr val="E8F1F5"/>
                    </a:solidFill>
                  </a:tcPr>
                </a:tc>
              </a:tr>
              <a:tr h="667512">
                <a:tc>
                  <a:txBody>
                    <a:bodyPr/>
                    <a:lstStyle/>
                    <a:p>
                      <a:pPr>
                        <a:defRPr sz="1500" b="0">
                          <a:solidFill>
                            <a:srgbClr val="202A36"/>
                          </a:solidFill>
                          <a:latin typeface="Aptos"/>
                        </a:defRPr>
                      </a:pPr>
                      <a:r>
                        <a:t>0.01</a:t>
                      </a:r>
                    </a:p>
                  </a:txBody>
                  <a:tcPr marL="91440" marR="91440">
                    <a:solidFill>
                      <a:srgbClr val="F4F6F8"/>
                    </a:solidFill>
                  </a:tcPr>
                </a:tc>
                <a:tc>
                  <a:txBody>
                    <a:bodyPr/>
                    <a:lstStyle/>
                    <a:p>
                      <a:pPr>
                        <a:defRPr sz="1500" b="0">
                          <a:solidFill>
                            <a:srgbClr val="202A36"/>
                          </a:solidFill>
                          <a:latin typeface="Aptos"/>
                        </a:defRPr>
                      </a:pPr>
                      <a:r>
                        <a:t>84</a:t>
                      </a:r>
                    </a:p>
                  </a:txBody>
                  <a:tcPr marL="91440" marR="91440">
                    <a:solidFill>
                      <a:srgbClr val="F4F6F8"/>
                    </a:solidFill>
                  </a:tcPr>
                </a:tc>
                <a:tc>
                  <a:txBody>
                    <a:bodyPr/>
                    <a:lstStyle/>
                    <a:p>
                      <a:pPr>
                        <a:defRPr sz="1500" b="0">
                          <a:solidFill>
                            <a:srgbClr val="202A36"/>
                          </a:solidFill>
                          <a:latin typeface="Aptos"/>
                        </a:defRPr>
                      </a:pPr>
                      <a:r>
                        <a:t>38/84</a:t>
                      </a:r>
                    </a:p>
                  </a:txBody>
                  <a:tcPr marL="91440" marR="91440">
                    <a:solidFill>
                      <a:srgbClr val="F4F6F8"/>
                    </a:solidFill>
                  </a:tcPr>
                </a:tc>
                <a:tc>
                  <a:txBody>
                    <a:bodyPr/>
                    <a:lstStyle/>
                    <a:p>
                      <a:pPr>
                        <a:defRPr sz="1500" b="0">
                          <a:solidFill>
                            <a:srgbClr val="202A36"/>
                          </a:solidFill>
                          <a:latin typeface="Aptos"/>
                        </a:defRPr>
                      </a:pPr>
                      <a:r>
                        <a:t>48/84</a:t>
                      </a:r>
                    </a:p>
                  </a:txBody>
                  <a:tcPr marL="91440" marR="91440">
                    <a:solidFill>
                      <a:srgbClr val="F4F6F8"/>
                    </a:solidFill>
                  </a:tcPr>
                </a:tc>
                <a:tc>
                  <a:txBody>
                    <a:bodyPr/>
                    <a:lstStyle/>
                    <a:p>
                      <a:pPr>
                        <a:defRPr sz="1500" b="0">
                          <a:solidFill>
                            <a:srgbClr val="202A36"/>
                          </a:solidFill>
                          <a:latin typeface="Aptos"/>
                        </a:defRPr>
                      </a:pPr>
                      <a:r>
                        <a:t>+11.90</a:t>
                      </a:r>
                    </a:p>
                  </a:txBody>
                  <a:tcPr marL="91440" marR="91440">
                    <a:solidFill>
                      <a:srgbClr val="F4F6F8"/>
                    </a:solidFill>
                  </a:tcPr>
                </a:tc>
                <a:tc>
                  <a:txBody>
                    <a:bodyPr/>
                    <a:lstStyle/>
                    <a:p>
                      <a:pPr>
                        <a:defRPr sz="1500" b="0">
                          <a:solidFill>
                            <a:srgbClr val="202A36"/>
                          </a:solidFill>
                          <a:latin typeface="Aptos"/>
                        </a:defRPr>
                      </a:pPr>
                      <a:r>
                        <a:t>0.01758</a:t>
                      </a:r>
                    </a:p>
                  </a:txBody>
                  <a:tcPr marL="91440" marR="91440">
                    <a:solidFill>
                      <a:srgbClr val="F4F6F8"/>
                    </a:solidFill>
                  </a:tcPr>
                </a:tc>
              </a:tr>
              <a:tr h="667512">
                <a:tc>
                  <a:txBody>
                    <a:bodyPr/>
                    <a:lstStyle/>
                    <a:p>
                      <a:pPr>
                        <a:defRPr sz="1500" b="0">
                          <a:solidFill>
                            <a:srgbClr val="202A36"/>
                          </a:solidFill>
                          <a:latin typeface="Aptos"/>
                        </a:defRPr>
                      </a:pPr>
                      <a:r>
                        <a:t>0.002</a:t>
                      </a:r>
                    </a:p>
                  </a:txBody>
                  <a:tcPr marL="91440" marR="91440">
                    <a:solidFill>
                      <a:srgbClr val="FFFFFF"/>
                    </a:solidFill>
                  </a:tcPr>
                </a:tc>
                <a:tc>
                  <a:txBody>
                    <a:bodyPr/>
                    <a:lstStyle/>
                    <a:p>
                      <a:pPr>
                        <a:defRPr sz="1500" b="0">
                          <a:solidFill>
                            <a:srgbClr val="202A36"/>
                          </a:solidFill>
                          <a:latin typeface="Aptos"/>
                        </a:defRPr>
                      </a:pPr>
                      <a:r>
                        <a:t>48</a:t>
                      </a:r>
                    </a:p>
                  </a:txBody>
                  <a:tcPr marL="91440" marR="91440">
                    <a:solidFill>
                      <a:srgbClr val="FFFFFF"/>
                    </a:solidFill>
                  </a:tcPr>
                </a:tc>
                <a:tc>
                  <a:txBody>
                    <a:bodyPr/>
                    <a:lstStyle/>
                    <a:p>
                      <a:pPr>
                        <a:defRPr sz="1500" b="0">
                          <a:solidFill>
                            <a:srgbClr val="202A36"/>
                          </a:solidFill>
                          <a:latin typeface="Aptos"/>
                        </a:defRPr>
                      </a:pPr>
                      <a:r>
                        <a:t>19/48</a:t>
                      </a:r>
                    </a:p>
                  </a:txBody>
                  <a:tcPr marL="91440" marR="91440">
                    <a:solidFill>
                      <a:srgbClr val="FFFFFF"/>
                    </a:solidFill>
                  </a:tcPr>
                </a:tc>
                <a:tc>
                  <a:txBody>
                    <a:bodyPr/>
                    <a:lstStyle/>
                    <a:p>
                      <a:pPr>
                        <a:defRPr sz="1500" b="0">
                          <a:solidFill>
                            <a:srgbClr val="202A36"/>
                          </a:solidFill>
                          <a:latin typeface="Aptos"/>
                        </a:defRPr>
                      </a:pPr>
                      <a:r>
                        <a:t>23/48</a:t>
                      </a:r>
                    </a:p>
                  </a:txBody>
                  <a:tcPr marL="91440" marR="91440">
                    <a:solidFill>
                      <a:srgbClr val="FFFFFF"/>
                    </a:solidFill>
                  </a:tcPr>
                </a:tc>
                <a:tc>
                  <a:txBody>
                    <a:bodyPr/>
                    <a:lstStyle/>
                    <a:p>
                      <a:pPr>
                        <a:defRPr sz="1500" b="0">
                          <a:solidFill>
                            <a:srgbClr val="202A36"/>
                          </a:solidFill>
                          <a:latin typeface="Aptos"/>
                        </a:defRPr>
                      </a:pPr>
                      <a:r>
                        <a:t>+8.33</a:t>
                      </a:r>
                    </a:p>
                  </a:txBody>
                  <a:tcPr marL="91440" marR="91440">
                    <a:solidFill>
                      <a:srgbClr val="FFFFFF"/>
                    </a:solidFill>
                  </a:tcPr>
                </a:tc>
                <a:tc>
                  <a:txBody>
                    <a:bodyPr/>
                    <a:lstStyle/>
                    <a:p>
                      <a:pPr>
                        <a:defRPr sz="1500" b="0">
                          <a:solidFill>
                            <a:srgbClr val="202A36"/>
                          </a:solidFill>
                          <a:latin typeface="Aptos"/>
                        </a:defRPr>
                      </a:pPr>
                      <a:r>
                        <a:t>0.12500</a:t>
                      </a:r>
                    </a:p>
                  </a:txBody>
                  <a:tcPr marL="91440" marR="91440">
                    <a:solidFill>
                      <a:srgbClr val="FFFFFF"/>
                    </a:solidFill>
                  </a:tcPr>
                </a:tc>
              </a:tr>
              <a:tr h="667512">
                <a:tc>
                  <a:txBody>
                    <a:bodyPr/>
                    <a:lstStyle/>
                    <a:p>
                      <a:pPr>
                        <a:defRPr sz="1500" b="0">
                          <a:solidFill>
                            <a:srgbClr val="202A36"/>
                          </a:solidFill>
                          <a:latin typeface="Aptos"/>
                        </a:defRPr>
                      </a:pPr>
                      <a:r>
                        <a:t>0.005</a:t>
                      </a:r>
                    </a:p>
                  </a:txBody>
                  <a:tcPr marL="91440" marR="91440">
                    <a:solidFill>
                      <a:srgbClr val="F4F6F8"/>
                    </a:solidFill>
                  </a:tcPr>
                </a:tc>
                <a:tc>
                  <a:txBody>
                    <a:bodyPr/>
                    <a:lstStyle/>
                    <a:p>
                      <a:pPr>
                        <a:defRPr sz="1500" b="0">
                          <a:solidFill>
                            <a:srgbClr val="202A36"/>
                          </a:solidFill>
                          <a:latin typeface="Aptos"/>
                        </a:defRPr>
                      </a:pPr>
                      <a:r>
                        <a:t>62</a:t>
                      </a:r>
                    </a:p>
                  </a:txBody>
                  <a:tcPr marL="91440" marR="91440">
                    <a:solidFill>
                      <a:srgbClr val="F4F6F8"/>
                    </a:solidFill>
                  </a:tcPr>
                </a:tc>
                <a:tc>
                  <a:txBody>
                    <a:bodyPr/>
                    <a:lstStyle/>
                    <a:p>
                      <a:pPr>
                        <a:defRPr sz="1500" b="0">
                          <a:solidFill>
                            <a:srgbClr val="202A36"/>
                          </a:solidFill>
                          <a:latin typeface="Aptos"/>
                        </a:defRPr>
                      </a:pPr>
                      <a:r>
                        <a:t>32/62</a:t>
                      </a:r>
                    </a:p>
                  </a:txBody>
                  <a:tcPr marL="91440" marR="91440">
                    <a:solidFill>
                      <a:srgbClr val="F4F6F8"/>
                    </a:solidFill>
                  </a:tcPr>
                </a:tc>
                <a:tc>
                  <a:txBody>
                    <a:bodyPr/>
                    <a:lstStyle/>
                    <a:p>
                      <a:pPr>
                        <a:defRPr sz="1500" b="0">
                          <a:solidFill>
                            <a:srgbClr val="202A36"/>
                          </a:solidFill>
                          <a:latin typeface="Aptos"/>
                        </a:defRPr>
                      </a:pPr>
                      <a:r>
                        <a:t>37/62</a:t>
                      </a:r>
                    </a:p>
                  </a:txBody>
                  <a:tcPr marL="91440" marR="91440">
                    <a:solidFill>
                      <a:srgbClr val="F4F6F8"/>
                    </a:solidFill>
                  </a:tcPr>
                </a:tc>
                <a:tc>
                  <a:txBody>
                    <a:bodyPr/>
                    <a:lstStyle/>
                    <a:p>
                      <a:pPr>
                        <a:defRPr sz="1500" b="0">
                          <a:solidFill>
                            <a:srgbClr val="202A36"/>
                          </a:solidFill>
                          <a:latin typeface="Aptos"/>
                        </a:defRPr>
                      </a:pPr>
                      <a:r>
                        <a:t>+8.06</a:t>
                      </a:r>
                    </a:p>
                  </a:txBody>
                  <a:tcPr marL="91440" marR="91440">
                    <a:solidFill>
                      <a:srgbClr val="F4F6F8"/>
                    </a:solidFill>
                  </a:tcPr>
                </a:tc>
                <a:tc>
                  <a:txBody>
                    <a:bodyPr/>
                    <a:lstStyle/>
                    <a:p>
                      <a:pPr>
                        <a:defRPr sz="1500" b="0">
                          <a:solidFill>
                            <a:srgbClr val="202A36"/>
                          </a:solidFill>
                          <a:latin typeface="Aptos"/>
                        </a:defRPr>
                      </a:pPr>
                      <a:r>
                        <a:t>0.12500</a:t>
                      </a:r>
                    </a:p>
                  </a:txBody>
                  <a:tcPr marL="91440" marR="91440">
                    <a:solidFill>
                      <a:srgbClr val="F4F6F8"/>
                    </a:solidFill>
                  </a:tcPr>
                </a:tc>
              </a:tr>
              <a:tr h="667512">
                <a:tc>
                  <a:txBody>
                    <a:bodyPr/>
                    <a:lstStyle/>
                    <a:p>
                      <a:pPr>
                        <a:defRPr sz="1500" b="0">
                          <a:solidFill>
                            <a:srgbClr val="202A36"/>
                          </a:solidFill>
                          <a:latin typeface="Aptos"/>
                        </a:defRPr>
                      </a:pPr>
                      <a:r>
                        <a:t>0.02</a:t>
                      </a:r>
                    </a:p>
                  </a:txBody>
                  <a:tcPr marL="91440" marR="91440">
                    <a:solidFill>
                      <a:srgbClr val="FFFFFF"/>
                    </a:solidFill>
                  </a:tcPr>
                </a:tc>
                <a:tc>
                  <a:txBody>
                    <a:bodyPr/>
                    <a:lstStyle/>
                    <a:p>
                      <a:pPr>
                        <a:defRPr sz="1500" b="0">
                          <a:solidFill>
                            <a:srgbClr val="202A36"/>
                          </a:solidFill>
                          <a:latin typeface="Aptos"/>
                        </a:defRPr>
                      </a:pPr>
                      <a:r>
                        <a:t>99</a:t>
                      </a:r>
                    </a:p>
                  </a:txBody>
                  <a:tcPr marL="91440" marR="91440">
                    <a:solidFill>
                      <a:srgbClr val="FFFFFF"/>
                    </a:solidFill>
                  </a:tcPr>
                </a:tc>
                <a:tc>
                  <a:txBody>
                    <a:bodyPr/>
                    <a:lstStyle/>
                    <a:p>
                      <a:pPr>
                        <a:defRPr sz="1500" b="0">
                          <a:solidFill>
                            <a:srgbClr val="202A36"/>
                          </a:solidFill>
                          <a:latin typeface="Aptos"/>
                        </a:defRPr>
                      </a:pPr>
                      <a:r>
                        <a:t>42/99</a:t>
                      </a:r>
                    </a:p>
                  </a:txBody>
                  <a:tcPr marL="91440" marR="91440">
                    <a:solidFill>
                      <a:srgbClr val="FFFFFF"/>
                    </a:solidFill>
                  </a:tcPr>
                </a:tc>
                <a:tc>
                  <a:txBody>
                    <a:bodyPr/>
                    <a:lstStyle/>
                    <a:p>
                      <a:pPr>
                        <a:defRPr sz="1500" b="0">
                          <a:solidFill>
                            <a:srgbClr val="202A36"/>
                          </a:solidFill>
                          <a:latin typeface="Aptos"/>
                        </a:defRPr>
                      </a:pPr>
                      <a:r>
                        <a:t>47/99</a:t>
                      </a:r>
                    </a:p>
                  </a:txBody>
                  <a:tcPr marL="91440" marR="91440">
                    <a:solidFill>
                      <a:srgbClr val="FFFFFF"/>
                    </a:solidFill>
                  </a:tcPr>
                </a:tc>
                <a:tc>
                  <a:txBody>
                    <a:bodyPr/>
                    <a:lstStyle/>
                    <a:p>
                      <a:pPr>
                        <a:defRPr sz="1500" b="0">
                          <a:solidFill>
                            <a:srgbClr val="202A36"/>
                          </a:solidFill>
                          <a:latin typeface="Aptos"/>
                        </a:defRPr>
                      </a:pPr>
                      <a:r>
                        <a:t>+5.05</a:t>
                      </a:r>
                    </a:p>
                  </a:txBody>
                  <a:tcPr marL="91440" marR="91440">
                    <a:solidFill>
                      <a:srgbClr val="FFFFFF"/>
                    </a:solidFill>
                  </a:tcPr>
                </a:tc>
                <a:tc>
                  <a:txBody>
                    <a:bodyPr/>
                    <a:lstStyle/>
                    <a:p>
                      <a:pPr>
                        <a:defRPr sz="1500" b="0">
                          <a:solidFill>
                            <a:srgbClr val="202A36"/>
                          </a:solidFill>
                          <a:latin typeface="Aptos"/>
                        </a:defRPr>
                      </a:pPr>
                      <a:r>
                        <a:t>0.06250</a:t>
                      </a:r>
                    </a:p>
                  </a:txBody>
                  <a:tcPr marL="91440" marR="91440">
                    <a:solidFill>
                      <a:srgbClr val="FFFFFF"/>
                    </a:solidFill>
                  </a:tcPr>
                </a:tc>
              </a:tr>
            </a:tbl>
          </a:graphicData>
        </a:graphic>
      </p:graphicFrame>
      <p:sp>
        <p:nvSpPr>
          <p:cNvPr id="6" name="TextBox 5"/>
          <p:cNvSpPr txBox="1"/>
          <p:nvPr/>
        </p:nvSpPr>
        <p:spPr>
          <a:xfrm>
            <a:off x="594360" y="6492240"/>
            <a:ext cx="2743200" cy="182880"/>
          </a:xfrm>
          <a:prstGeom prst="rect">
            <a:avLst/>
          </a:prstGeom>
          <a:noFill/>
        </p:spPr>
        <p:txBody>
          <a:bodyPr wrap="square" lIns="0" rIns="0">
            <a:spAutoFit/>
          </a:bodyPr>
          <a:lstStyle/>
          <a:p>
            <a:pPr>
              <a:defRPr sz="1100" b="0">
                <a:solidFill>
                  <a:srgbClr val="6B7480"/>
                </a:solidFill>
                <a:latin typeface="Aptos"/>
              </a:defRPr>
            </a:pPr>
            <a:r>
              <a:t>06  /  BACKUP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