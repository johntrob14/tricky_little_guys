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outrl1, we trained GPT-OSS-120B with reasoning enabled, grading constraints on the final explanation and applying the resulting RL advantage to all generated tokens. Because the final response depends on the preceding CoT, reasoning that follows the constraint could make a rewarded response more likely and be reinforced. Updates to shared parameters could also transfer output instruction following into CoT control. Our single run shows a small increase in partial CoT compliance without a clear improvement in strict compliance. This is weak evidence for the hypothesis: partial scores can credit discussion of the rule, and we have no matched control that separates spillover from shortening or other training effects.</a:t>
            </a:r>
          </a:p>
          <a:p/>
          <a:p>
            <a:r>
              <a:t>Source: https://arxiv.org/abs/2511.11584</a:t>
            </a:r>
          </a:p>
          <a:p/>
          <a:p>
            <a:r>
              <a:t>Verification: local recount of 480 deterministic-rule items, averaging samples within each item; semantic ignore_question items excluded. Partial score: 28.14% to 31.73% (+3.59 percentage points); strict score: 3.52% to 2.50% (-1.02 percentage points). The partial-score implementation was reused; aggregation was recomputed. These are exploratory scores from one training run, not independent replications. Forty seeded excerpts reviewed; no full answer-correctness audit. Training also requires a nonempty reasoning segment and valid completion, so only the constraint grading is final-response-only. The broader nine-type aggregate in earlier notes uses a different denominator. See spillover_verification.json for this recount.</a:t>
            </a:r>
          </a:p>
          <a:p>
            <a:r>
              <a:t>Code: /home/john/code/nocotrl-b-pilot/cot-control/rl/grpo_out.py and rl/grpo.py.</a:t>
            </a:r>
          </a:p>
          <a:p>
            <a:r>
              <a:t>Data: /home/john/code/nocotrl-b-pilot/cot-control/results/outctl/{more,big}/cot/{base,outrl1-s53}/graded.json.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320040"/>
            <a:ext cx="10972800" cy="1143000"/>
          </a:xfrm>
          <a:prstGeom prst="rect">
            <a:avLst/>
          </a:prstGeom>
          <a:noFill/>
        </p:spPr>
        <p:txBody>
          <a:bodyPr wrap="square" lIns="18288" rIns="18288">
            <a:spAutoFit/>
          </a:bodyPr>
          <a:lstStyle/>
          <a:p>
            <a:pPr>
              <a:defRPr sz="3200" b="1">
                <a:solidFill>
                  <a:srgbClr val="202A36"/>
                </a:solidFill>
                <a:latin typeface="Aptos"/>
              </a:defRPr>
            </a:pPr>
            <a:r>
              <a:t>Feedback spillover may improve CoT control with reasoning on</a:t>
            </a:r>
          </a:p>
        </p:txBody>
      </p:sp>
      <p:sp>
        <p:nvSpPr>
          <p:cNvPr id="3" name="Rounded Rectangle 2"/>
          <p:cNvSpPr/>
          <p:nvPr/>
        </p:nvSpPr>
        <p:spPr>
          <a:xfrm>
            <a:off x="777240" y="1783080"/>
            <a:ext cx="2743200" cy="777240"/>
          </a:xfrm>
          <a:prstGeom prst="roundRect">
            <a:avLst/>
          </a:prstGeom>
          <a:solidFill>
            <a:srgbClr val="E8F1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400">
                <a:solidFill>
                  <a:srgbClr val="202A36"/>
                </a:solidFill>
                <a:latin typeface="Aptos"/>
              </a:defRPr>
            </a:pPr>
            <a:r>
              <a:t>CoT</a:t>
            </a:r>
          </a:p>
        </p:txBody>
      </p:sp>
      <p:sp>
        <p:nvSpPr>
          <p:cNvPr id="4" name="Rounded Rectangle 3"/>
          <p:cNvSpPr/>
          <p:nvPr/>
        </p:nvSpPr>
        <p:spPr>
          <a:xfrm>
            <a:off x="4617720" y="1783080"/>
            <a:ext cx="2743200" cy="777240"/>
          </a:xfrm>
          <a:prstGeom prst="roundRect">
            <a:avLst/>
          </a:prstGeom>
          <a:solidFill>
            <a:srgbClr val="E8F1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400">
                <a:solidFill>
                  <a:srgbClr val="202A36"/>
                </a:solidFill>
                <a:latin typeface="Aptos"/>
              </a:defRPr>
            </a:pPr>
            <a:r>
              <a:t>Final response</a:t>
            </a:r>
          </a:p>
        </p:txBody>
      </p:sp>
      <p:sp>
        <p:nvSpPr>
          <p:cNvPr id="5" name="Rounded Rectangle 4"/>
          <p:cNvSpPr/>
          <p:nvPr/>
        </p:nvSpPr>
        <p:spPr>
          <a:xfrm>
            <a:off x="8458200" y="1783080"/>
            <a:ext cx="2743200" cy="777240"/>
          </a:xfrm>
          <a:prstGeom prst="roundRect">
            <a:avLst/>
          </a:prstGeom>
          <a:solidFill>
            <a:srgbClr val="E8F1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400">
                <a:solidFill>
                  <a:srgbClr val="202A36"/>
                </a:solidFill>
                <a:latin typeface="Aptos"/>
              </a:defRPr>
            </a:pPr>
            <a:r>
              <a:t>Reward</a:t>
            </a:r>
          </a:p>
        </p:txBody>
      </p:sp>
      <p:sp>
        <p:nvSpPr>
          <p:cNvPr id="6" name="TextBox 5"/>
          <p:cNvSpPr txBox="1"/>
          <p:nvPr/>
        </p:nvSpPr>
        <p:spPr>
          <a:xfrm>
            <a:off x="3657600" y="1847088"/>
            <a:ext cx="777240" cy="502920"/>
          </a:xfrm>
          <a:prstGeom prst="rect">
            <a:avLst/>
          </a:prstGeom>
          <a:noFill/>
        </p:spPr>
        <p:txBody>
          <a:bodyPr wrap="square" lIns="18288" rIns="18288">
            <a:spAutoFit/>
          </a:bodyPr>
          <a:lstStyle/>
          <a:p>
            <a:pPr algn="ctr">
              <a:defRPr sz="2800" b="0">
                <a:solidFill>
                  <a:srgbClr val="3467A4"/>
                </a:solidFill>
                <a:latin typeface="Aptos"/>
              </a:defRPr>
            </a:pPr>
            <a:r>
              <a:t>→</a:t>
            </a:r>
          </a:p>
        </p:txBody>
      </p:sp>
      <p:sp>
        <p:nvSpPr>
          <p:cNvPr id="7" name="TextBox 6"/>
          <p:cNvSpPr txBox="1"/>
          <p:nvPr/>
        </p:nvSpPr>
        <p:spPr>
          <a:xfrm>
            <a:off x="7498079" y="1847088"/>
            <a:ext cx="777240" cy="502920"/>
          </a:xfrm>
          <a:prstGeom prst="rect">
            <a:avLst/>
          </a:prstGeom>
          <a:noFill/>
        </p:spPr>
        <p:txBody>
          <a:bodyPr wrap="square" lIns="18288" rIns="18288">
            <a:spAutoFit/>
          </a:bodyPr>
          <a:lstStyle/>
          <a:p>
            <a:pPr algn="ctr">
              <a:defRPr sz="2800" b="0">
                <a:solidFill>
                  <a:srgbClr val="3467A4"/>
                </a:solidFill>
                <a:latin typeface="Aptos"/>
              </a:defRPr>
            </a:pPr>
            <a:r>
              <a:t>→</a:t>
            </a:r>
          </a:p>
        </p:txBody>
      </p:sp>
      <p:sp>
        <p:nvSpPr>
          <p:cNvPr id="8" name="TextBox 7"/>
          <p:cNvSpPr txBox="1"/>
          <p:nvPr/>
        </p:nvSpPr>
        <p:spPr>
          <a:xfrm>
            <a:off x="777240" y="2651760"/>
            <a:ext cx="2743200" cy="365760"/>
          </a:xfrm>
          <a:prstGeom prst="rect">
            <a:avLst/>
          </a:prstGeom>
          <a:noFill/>
        </p:spPr>
        <p:txBody>
          <a:bodyPr wrap="square" lIns="18288" rIns="18288">
            <a:spAutoFit/>
          </a:bodyPr>
          <a:lstStyle/>
          <a:p>
            <a:pPr algn="ctr">
              <a:defRPr sz="1600" b="0">
                <a:solidFill>
                  <a:srgbClr val="65717E"/>
                </a:solidFill>
                <a:latin typeface="Aptos"/>
              </a:defRPr>
            </a:pPr>
            <a:r>
              <a:t>Reasoning enabled</a:t>
            </a:r>
          </a:p>
        </p:txBody>
      </p:sp>
      <p:sp>
        <p:nvSpPr>
          <p:cNvPr id="9" name="TextBox 8"/>
          <p:cNvSpPr txBox="1"/>
          <p:nvPr/>
        </p:nvSpPr>
        <p:spPr>
          <a:xfrm>
            <a:off x="7955279" y="2651760"/>
            <a:ext cx="3749039" cy="457200"/>
          </a:xfrm>
          <a:prstGeom prst="rect">
            <a:avLst/>
          </a:prstGeom>
          <a:noFill/>
        </p:spPr>
        <p:txBody>
          <a:bodyPr wrap="square" lIns="18288" rIns="18288">
            <a:spAutoFit/>
          </a:bodyPr>
          <a:lstStyle/>
          <a:p>
            <a:pPr algn="ctr">
              <a:defRPr sz="1600" b="0">
                <a:solidFill>
                  <a:srgbClr val="65717E"/>
                </a:solidFill>
                <a:latin typeface="Aptos"/>
              </a:defRPr>
            </a:pPr>
            <a:r>
              <a:t>Correctness + output constraints</a:t>
            </a:r>
          </a:p>
        </p:txBody>
      </p:sp>
      <p:sp>
        <p:nvSpPr>
          <p:cNvPr id="10" name="Left Arrow 9"/>
          <p:cNvSpPr/>
          <p:nvPr/>
        </p:nvSpPr>
        <p:spPr>
          <a:xfrm>
            <a:off x="1920240" y="3246120"/>
            <a:ext cx="7863840" cy="274320"/>
          </a:xfrm>
          <a:prstGeom prst="leftArrow">
            <a:avLst/>
          </a:prstGeom>
          <a:solidFill>
            <a:srgbClr val="008F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920240" y="3566160"/>
            <a:ext cx="7863840" cy="457200"/>
          </a:xfrm>
          <a:prstGeom prst="rect">
            <a:avLst/>
          </a:prstGeom>
          <a:noFill/>
        </p:spPr>
        <p:txBody>
          <a:bodyPr wrap="square" lIns="18288" rIns="18288">
            <a:spAutoFit/>
          </a:bodyPr>
          <a:lstStyle/>
          <a:p>
            <a:pPr algn="ctr">
              <a:defRPr sz="1900" b="0">
                <a:solidFill>
                  <a:srgbClr val="008F85"/>
                </a:solidFill>
                <a:latin typeface="Aptos"/>
              </a:defRPr>
            </a:pPr>
            <a:r>
              <a:t>RL advantage applied to CoT + response tokens</a:t>
            </a:r>
          </a:p>
        </p:txBody>
      </p:sp>
      <p:sp>
        <p:nvSpPr>
          <p:cNvPr id="12" name="TextBox 11"/>
          <p:cNvSpPr txBox="1"/>
          <p:nvPr/>
        </p:nvSpPr>
        <p:spPr>
          <a:xfrm>
            <a:off x="594360" y="4251960"/>
            <a:ext cx="10972800" cy="850392"/>
          </a:xfrm>
          <a:prstGeom prst="rect">
            <a:avLst/>
          </a:prstGeom>
          <a:noFill/>
        </p:spPr>
        <p:txBody>
          <a:bodyPr wrap="square" lIns="18288" rIns="18288">
            <a:spAutoFit/>
          </a:bodyPr>
          <a:lstStyle/>
          <a:p>
            <a:pPr>
              <a:defRPr sz="2300" b="0">
                <a:solidFill>
                  <a:srgbClr val="202A36"/>
                </a:solidFill>
                <a:latin typeface="Aptos"/>
              </a:defRPr>
            </a:pPr>
            <a:r>
              <a:t>• With reasoning enabled, we reward final-answer correctness and output constraints and apply the RL advantage to both CoT and response tokens.</a:t>
            </a:r>
          </a:p>
        </p:txBody>
      </p:sp>
      <p:sp>
        <p:nvSpPr>
          <p:cNvPr id="13" name="TextBox 12"/>
          <p:cNvSpPr txBox="1"/>
          <p:nvPr/>
        </p:nvSpPr>
        <p:spPr>
          <a:xfrm>
            <a:off x="594360" y="5166360"/>
            <a:ext cx="10972800" cy="850392"/>
          </a:xfrm>
          <a:prstGeom prst="rect">
            <a:avLst/>
          </a:prstGeom>
          <a:noFill/>
        </p:spPr>
        <p:txBody>
          <a:bodyPr wrap="square" lIns="18288" rIns="18288">
            <a:spAutoFit/>
          </a:bodyPr>
          <a:lstStyle/>
          <a:p>
            <a:pPr>
              <a:defRPr sz="2300" b="0">
                <a:solidFill>
                  <a:srgbClr val="202A36"/>
                </a:solidFill>
                <a:latin typeface="Aptos"/>
              </a:defRPr>
            </a:pPr>
            <a:r>
              <a:t>• GPT-OSS-120B: mean partial score 28.1% → 31.7%; strict compliance 3.5% → 2.5% (480 items, one run). Weak evidence for spillover.</a:t>
            </a:r>
          </a:p>
        </p:txBody>
      </p:sp>
      <p:sp>
        <p:nvSpPr>
          <p:cNvPr id="14" name="TextBox 13"/>
          <p:cNvSpPr txBox="1"/>
          <p:nvPr/>
        </p:nvSpPr>
        <p:spPr>
          <a:xfrm>
            <a:off x="594360" y="6428232"/>
            <a:ext cx="10972800" cy="228600"/>
          </a:xfrm>
          <a:prstGeom prst="rect">
            <a:avLst/>
          </a:prstGeom>
          <a:noFill/>
        </p:spPr>
        <p:txBody>
          <a:bodyPr wrap="square" lIns="18288" rIns="18288">
            <a:spAutoFit/>
          </a:bodyPr>
          <a:lstStyle/>
          <a:p>
            <a:pPr>
              <a:defRPr sz="1100" b="0">
                <a:solidFill>
                  <a:srgbClr val="65717E"/>
                </a:solidFill>
                <a:latin typeface="Aptos"/>
              </a:defRPr>
            </a:pPr>
            <a:r>
              <a:t>Mechanism: Drori et al., Output Supervision Can Obfuscate the Chain of Thought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